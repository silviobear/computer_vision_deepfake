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Inter SemiBold"/>
      <p:regular r:id="rId20"/>
      <p:bold r:id="rId21"/>
      <p:italic r:id="rId22"/>
      <p:boldItalic r:id="rId23"/>
    </p:embeddedFont>
    <p:embeddedFont>
      <p:font typeface="Roboto"/>
      <p:regular r:id="rId24"/>
      <p:bold r:id="rId25"/>
      <p:italic r:id="rId26"/>
      <p:boldItalic r:id="rId27"/>
    </p:embeddedFont>
    <p:embeddedFont>
      <p:font typeface="Inter"/>
      <p:regular r:id="rId28"/>
      <p:bold r:id="rId29"/>
      <p:italic r:id="rId30"/>
      <p:boldItalic r:id="rId31"/>
    </p:embeddedFont>
    <p:embeddedFont>
      <p:font typeface="Montserrat"/>
      <p:bold r:id="rId32"/>
      <p:boldItalic r:id="rId33"/>
    </p:embeddedFont>
    <p:embeddedFont>
      <p:font typeface="Montserrat ExtraBold"/>
      <p:bold r:id="rId34"/>
      <p:boldItalic r:id="rId35"/>
    </p:embeddedFont>
    <p:embeddedFont>
      <p:font typeface="Inter Medium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DBA9CB-3E88-4619-A71E-292D7983E240}">
  <a:tblStyle styleId="{5ADBA9CB-3E88-4619-A71E-292D7983E24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Roboto-regular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Inter-regular.fntdata"/><Relationship Id="rId27" Type="http://schemas.openxmlformats.org/officeDocument/2006/relationships/font" Target="fonts/Robo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boldItalic.fntdata"/><Relationship Id="rId30" Type="http://schemas.openxmlformats.org/officeDocument/2006/relationships/font" Target="fonts/Inter-italic.fntdata"/><Relationship Id="rId11" Type="http://schemas.openxmlformats.org/officeDocument/2006/relationships/slide" Target="slides/slide5.xml"/><Relationship Id="rId33" Type="http://schemas.openxmlformats.org/officeDocument/2006/relationships/font" Target="fonts/Montserrat-boldItalic.fntdata"/><Relationship Id="rId10" Type="http://schemas.openxmlformats.org/officeDocument/2006/relationships/slide" Target="slides/slide4.xml"/><Relationship Id="rId32" Type="http://schemas.openxmlformats.org/officeDocument/2006/relationships/font" Target="fonts/Montserrat-bold.fntdata"/><Relationship Id="rId13" Type="http://schemas.openxmlformats.org/officeDocument/2006/relationships/slide" Target="slides/slide7.xml"/><Relationship Id="rId35" Type="http://schemas.openxmlformats.org/officeDocument/2006/relationships/font" Target="fonts/MontserratExtraBold-boldItalic.fntdata"/><Relationship Id="rId12" Type="http://schemas.openxmlformats.org/officeDocument/2006/relationships/slide" Target="slides/slide6.xml"/><Relationship Id="rId34" Type="http://schemas.openxmlformats.org/officeDocument/2006/relationships/font" Target="fonts/MontserratExtraBold-bold.fntdata"/><Relationship Id="rId15" Type="http://schemas.openxmlformats.org/officeDocument/2006/relationships/slide" Target="slides/slide9.xml"/><Relationship Id="rId37" Type="http://schemas.openxmlformats.org/officeDocument/2006/relationships/font" Target="fonts/InterMedium-bold.fntdata"/><Relationship Id="rId14" Type="http://schemas.openxmlformats.org/officeDocument/2006/relationships/slide" Target="slides/slide8.xml"/><Relationship Id="rId36" Type="http://schemas.openxmlformats.org/officeDocument/2006/relationships/font" Target="fonts/InterMedium-regular.fntdata"/><Relationship Id="rId17" Type="http://schemas.openxmlformats.org/officeDocument/2006/relationships/slide" Target="slides/slide11.xml"/><Relationship Id="rId39" Type="http://schemas.openxmlformats.org/officeDocument/2006/relationships/font" Target="fonts/InterMedium-boldItalic.fntdata"/><Relationship Id="rId16" Type="http://schemas.openxmlformats.org/officeDocument/2006/relationships/slide" Target="slides/slide10.xml"/><Relationship Id="rId38" Type="http://schemas.openxmlformats.org/officeDocument/2006/relationships/font" Target="fonts/InterMedium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10417eb63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f10417eb63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10417eb63_31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10417eb63_31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10417eb63_42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10417eb63_42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10417eb63_58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f10417eb63_58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10417eb63_11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f10417eb63_1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321b3bbcf_4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321b3bbcf_4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321b3bbcf_4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f321b3bbcf_4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321b3bbcf_4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f321b3bbcf_4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321b3bbcf_181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f321b3bbcf_181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321b3bbcf_246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f321b3bbcf_246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321b3bbcf_181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f321b3bbcf_181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321b3bbcf_181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f321b3bbcf_181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762000" y="1047750"/>
            <a:ext cx="7620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3800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JPEG AI as a Threat to</a:t>
            </a:r>
            <a:endParaRPr b="0" sz="3800">
              <a:solidFill>
                <a:srgbClr val="0F172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it" sz="3800">
                <a:solidFill>
                  <a:srgbClr val="82002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Deepfake Detection</a:t>
            </a:r>
            <a:endParaRPr b="0" sz="3800">
              <a:solidFill>
                <a:srgbClr val="820024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762000" y="2714625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3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Computer Vision </a:t>
            </a:r>
            <a:r>
              <a:rPr b="0" lang="it" sz="13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|</a:t>
            </a:r>
            <a:r>
              <a:rPr b="0" lang="it" sz="13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Sapienza University of Rome</a:t>
            </a:r>
            <a:endParaRPr b="0" sz="1300">
              <a:solidFill>
                <a:srgbClr val="47556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762000" y="3238500"/>
            <a:ext cx="1524000" cy="0"/>
          </a:xfrm>
          <a:prstGeom prst="straightConnector1">
            <a:avLst/>
          </a:prstGeom>
          <a:solidFill>
            <a:srgbClr val="FFFFFF"/>
          </a:solidFill>
          <a:ln cap="flat" cmpd="sng" w="28575">
            <a:solidFill>
              <a:srgbClr val="8200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13"/>
          <p:cNvSpPr txBox="1"/>
          <p:nvPr/>
        </p:nvSpPr>
        <p:spPr>
          <a:xfrm>
            <a:off x="762000" y="3476625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2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Presented by:</a:t>
            </a:r>
            <a:endParaRPr b="0" sz="1200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it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Enrico Bosco (1956727) </a:t>
            </a:r>
            <a:r>
              <a:rPr b="0" lang="it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r>
              <a:rPr b="0" lang="it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Gabriel Di Fazio (1941485)</a:t>
            </a:r>
            <a:endParaRPr b="0" sz="12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620000" y="4524375"/>
            <a:ext cx="952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01 / 1</a:t>
            </a:r>
            <a:r>
              <a:rPr lang="it" sz="1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3</a:t>
            </a:r>
            <a:endParaRPr b="0" sz="1000">
              <a:solidFill>
                <a:srgbClr val="94A3B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400050" y="476250"/>
            <a:ext cx="7620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3200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Outline</a:t>
            </a:r>
            <a:endParaRPr b="0" sz="3200">
              <a:solidFill>
                <a:srgbClr val="0F172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64" name="Google Shape;64;p14"/>
          <p:cNvGrpSpPr/>
          <p:nvPr/>
        </p:nvGrpSpPr>
        <p:grpSpPr>
          <a:xfrm>
            <a:off x="400050" y="1428750"/>
            <a:ext cx="1905000" cy="2809875"/>
            <a:chOff x="400050" y="1428750"/>
            <a:chExt cx="1905000" cy="2809875"/>
          </a:xfrm>
        </p:grpSpPr>
        <p:sp>
          <p:nvSpPr>
            <p:cNvPr id="65" name="Google Shape;65;p14"/>
            <p:cNvSpPr txBox="1"/>
            <p:nvPr/>
          </p:nvSpPr>
          <p:spPr>
            <a:xfrm>
              <a:off x="400050" y="1428750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3600">
                  <a:solidFill>
                    <a:srgbClr val="820024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01</a:t>
              </a:r>
              <a:endParaRPr b="0" sz="3600">
                <a:solidFill>
                  <a:srgbClr val="82002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66" name="Google Shape;66;p14"/>
            <p:cNvCxnSpPr/>
            <p:nvPr/>
          </p:nvCxnSpPr>
          <p:spPr>
            <a:xfrm>
              <a:off x="400050" y="2047875"/>
              <a:ext cx="552600" cy="0"/>
            </a:xfrm>
            <a:prstGeom prst="straightConnector1">
              <a:avLst/>
            </a:prstGeom>
            <a:solidFill>
              <a:srgbClr val="FFFFFF"/>
            </a:solidFill>
            <a:ln cap="flat" cmpd="sng" w="28575">
              <a:solidFill>
                <a:srgbClr val="82002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7" name="Google Shape;67;p14"/>
            <p:cNvSpPr txBox="1"/>
            <p:nvPr/>
          </p:nvSpPr>
          <p:spPr>
            <a:xfrm>
              <a:off x="400050" y="2190750"/>
              <a:ext cx="1905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40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Problem Statement</a:t>
              </a:r>
              <a:endParaRPr b="1" sz="1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8" name="Google Shape;68;p14"/>
            <p:cNvSpPr txBox="1"/>
            <p:nvPr/>
          </p:nvSpPr>
          <p:spPr>
            <a:xfrm>
              <a:off x="400050" y="2714625"/>
              <a:ext cx="1905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emergence of learned neural image codecs 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(JPEG AI)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9" name="Google Shape;69;p14"/>
          <p:cNvGrpSpPr/>
          <p:nvPr/>
        </p:nvGrpSpPr>
        <p:grpSpPr>
          <a:xfrm>
            <a:off x="2552700" y="1428750"/>
            <a:ext cx="1905000" cy="2809875"/>
            <a:chOff x="2552700" y="1428750"/>
            <a:chExt cx="1905000" cy="2809875"/>
          </a:xfrm>
        </p:grpSpPr>
        <p:sp>
          <p:nvSpPr>
            <p:cNvPr id="70" name="Google Shape;70;p14"/>
            <p:cNvSpPr txBox="1"/>
            <p:nvPr/>
          </p:nvSpPr>
          <p:spPr>
            <a:xfrm>
              <a:off x="2552700" y="1428750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3600">
                  <a:solidFill>
                    <a:srgbClr val="820024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02</a:t>
              </a:r>
              <a:endParaRPr b="0" sz="3600">
                <a:solidFill>
                  <a:srgbClr val="82002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71" name="Google Shape;71;p14"/>
            <p:cNvCxnSpPr/>
            <p:nvPr/>
          </p:nvCxnSpPr>
          <p:spPr>
            <a:xfrm>
              <a:off x="2552700" y="2047875"/>
              <a:ext cx="552600" cy="0"/>
            </a:xfrm>
            <a:prstGeom prst="straightConnector1">
              <a:avLst/>
            </a:prstGeom>
            <a:solidFill>
              <a:srgbClr val="FFFFFF"/>
            </a:solidFill>
            <a:ln cap="flat" cmpd="sng" w="28575">
              <a:solidFill>
                <a:srgbClr val="82002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2" name="Google Shape;72;p14"/>
            <p:cNvSpPr txBox="1"/>
            <p:nvPr/>
          </p:nvSpPr>
          <p:spPr>
            <a:xfrm>
              <a:off x="2552700" y="2190750"/>
              <a:ext cx="1905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40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Forensic Analysis</a:t>
              </a:r>
              <a:endParaRPr b="1" sz="1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3" name="Google Shape;73;p14"/>
            <p:cNvSpPr txBox="1"/>
            <p:nvPr/>
          </p:nvSpPr>
          <p:spPr>
            <a:xfrm>
              <a:off x="2552700" y="2714625"/>
              <a:ext cx="1905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How JPEG AI compression modifies the low-level statistical fingerprints that deepfake detectors exploit.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4" name="Google Shape;74;p14"/>
          <p:cNvGrpSpPr/>
          <p:nvPr/>
        </p:nvGrpSpPr>
        <p:grpSpPr>
          <a:xfrm>
            <a:off x="4705350" y="1428750"/>
            <a:ext cx="1905000" cy="2809875"/>
            <a:chOff x="4705350" y="1428750"/>
            <a:chExt cx="1905000" cy="2809875"/>
          </a:xfrm>
        </p:grpSpPr>
        <p:sp>
          <p:nvSpPr>
            <p:cNvPr id="75" name="Google Shape;75;p14"/>
            <p:cNvSpPr txBox="1"/>
            <p:nvPr/>
          </p:nvSpPr>
          <p:spPr>
            <a:xfrm>
              <a:off x="4705350" y="1428750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3600">
                  <a:solidFill>
                    <a:srgbClr val="820024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03</a:t>
              </a:r>
              <a:endParaRPr b="0" sz="3600">
                <a:solidFill>
                  <a:srgbClr val="82002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76" name="Google Shape;76;p14"/>
            <p:cNvCxnSpPr/>
            <p:nvPr/>
          </p:nvCxnSpPr>
          <p:spPr>
            <a:xfrm>
              <a:off x="4705350" y="2047875"/>
              <a:ext cx="552600" cy="0"/>
            </a:xfrm>
            <a:prstGeom prst="straightConnector1">
              <a:avLst/>
            </a:prstGeom>
            <a:solidFill>
              <a:srgbClr val="FFFFFF"/>
            </a:solidFill>
            <a:ln cap="flat" cmpd="sng" w="28575">
              <a:solidFill>
                <a:srgbClr val="82002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7" name="Google Shape;77;p14"/>
            <p:cNvSpPr txBox="1"/>
            <p:nvPr/>
          </p:nvSpPr>
          <p:spPr>
            <a:xfrm>
              <a:off x="4705350" y="2190750"/>
              <a:ext cx="1905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40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Proposed Methodology</a:t>
              </a:r>
              <a:endParaRPr b="1" sz="1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8" name="Google Shape;78;p14"/>
            <p:cNvSpPr txBox="1"/>
            <p:nvPr/>
          </p:nvSpPr>
          <p:spPr>
            <a:xfrm>
              <a:off x="4705350" y="2714625"/>
              <a:ext cx="1905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Mitigation strategies that make detector more robust to deepfake.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9" name="Google Shape;79;p14"/>
          <p:cNvGrpSpPr/>
          <p:nvPr/>
        </p:nvGrpSpPr>
        <p:grpSpPr>
          <a:xfrm>
            <a:off x="6858000" y="1428750"/>
            <a:ext cx="1905000" cy="2809875"/>
            <a:chOff x="6858000" y="1428750"/>
            <a:chExt cx="1905000" cy="2809875"/>
          </a:xfrm>
        </p:grpSpPr>
        <p:sp>
          <p:nvSpPr>
            <p:cNvPr id="80" name="Google Shape;80;p14"/>
            <p:cNvSpPr txBox="1"/>
            <p:nvPr/>
          </p:nvSpPr>
          <p:spPr>
            <a:xfrm>
              <a:off x="6858000" y="1428750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3600">
                  <a:solidFill>
                    <a:srgbClr val="820024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04</a:t>
              </a:r>
              <a:endParaRPr b="0" sz="3600">
                <a:solidFill>
                  <a:srgbClr val="82002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81" name="Google Shape;81;p14"/>
            <p:cNvCxnSpPr/>
            <p:nvPr/>
          </p:nvCxnSpPr>
          <p:spPr>
            <a:xfrm>
              <a:off x="6858000" y="2047875"/>
              <a:ext cx="552600" cy="0"/>
            </a:xfrm>
            <a:prstGeom prst="straightConnector1">
              <a:avLst/>
            </a:prstGeom>
            <a:solidFill>
              <a:srgbClr val="FFFFFF"/>
            </a:solidFill>
            <a:ln cap="flat" cmpd="sng" w="28575">
              <a:solidFill>
                <a:srgbClr val="82002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2" name="Google Shape;82;p14"/>
            <p:cNvSpPr txBox="1"/>
            <p:nvPr/>
          </p:nvSpPr>
          <p:spPr>
            <a:xfrm>
              <a:off x="6858000" y="2190750"/>
              <a:ext cx="1905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40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Experimental Evaluation</a:t>
              </a:r>
              <a:endParaRPr b="1" sz="1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3" name="Google Shape;83;p14"/>
            <p:cNvSpPr txBox="1"/>
            <p:nvPr/>
          </p:nvSpPr>
          <p:spPr>
            <a:xfrm>
              <a:off x="6858000" y="2714625"/>
              <a:ext cx="1905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Degradation curves and mitigation strategy benchmarks</a:t>
              </a:r>
              <a:r>
                <a:rPr lang="it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84" name="Google Shape;84;p14"/>
          <p:cNvSpPr txBox="1"/>
          <p:nvPr/>
        </p:nvSpPr>
        <p:spPr>
          <a:xfrm>
            <a:off x="7620000" y="4524375"/>
            <a:ext cx="952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02 / 1</a:t>
            </a:r>
            <a:r>
              <a:rPr lang="it" sz="1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3</a:t>
            </a:r>
            <a:endParaRPr b="0" sz="1000">
              <a:solidFill>
                <a:srgbClr val="94A3B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type="title"/>
          </p:nvPr>
        </p:nvSpPr>
        <p:spPr>
          <a:xfrm>
            <a:off x="400050" y="476250"/>
            <a:ext cx="7620000" cy="61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3200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Problem Statement</a:t>
            </a:r>
            <a:endParaRPr b="0" sz="3200">
              <a:solidFill>
                <a:srgbClr val="0F172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400050" y="1333500"/>
            <a:ext cx="4191000" cy="304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Key Context</a:t>
            </a:r>
            <a:endParaRPr b="1" sz="13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105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Inter"/>
              <a:buChar char="●"/>
            </a:pPr>
            <a:r>
              <a:rPr b="0" lang="it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Deepfake detectors rely on </a:t>
            </a:r>
            <a:r>
              <a:rPr b="1" lang="it" sz="1100">
                <a:solidFill>
                  <a:srgbClr val="820024"/>
                </a:solidFill>
                <a:latin typeface="Inter"/>
                <a:ea typeface="Inter"/>
                <a:cs typeface="Inter"/>
                <a:sym typeface="Inter"/>
              </a:rPr>
              <a:t>subtle, low-level statistical fingerprints</a:t>
            </a:r>
            <a:r>
              <a:rPr b="0" lang="it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left in high-frequency content during generation.</a:t>
            </a:r>
            <a:endParaRPr b="0"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90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Inter"/>
              <a:buChar char="●"/>
            </a:pPr>
            <a:r>
              <a:rPr b="0" lang="it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Any operations that smooth or overwrite these pixel-level traces can completely erase the evidence detectors depend on.</a:t>
            </a:r>
            <a:endParaRPr b="0"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90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Inter"/>
              <a:buChar char="●"/>
            </a:pPr>
            <a:r>
              <a:rPr b="1" lang="it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JPEG AI Standard</a:t>
            </a:r>
            <a:r>
              <a:rPr b="0" lang="it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: The first international standard for end-to-end learned compression driven by deep neural networks.</a:t>
            </a:r>
            <a:endParaRPr b="0"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90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Inter"/>
              <a:buChar char="●"/>
            </a:pPr>
            <a:r>
              <a:rPr b="1" lang="it" sz="11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Core Hypothesis</a:t>
            </a:r>
            <a:r>
              <a:rPr b="0" lang="it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: Unlike traditional JPEG, JPEG AI neural encoding completely overwrites native artifacts with its own network signature, neutralizing forensic models.</a:t>
            </a:r>
            <a:endParaRPr b="0"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91" name="Google Shape;91;p15"/>
          <p:cNvGrpSpPr/>
          <p:nvPr/>
        </p:nvGrpSpPr>
        <p:grpSpPr>
          <a:xfrm>
            <a:off x="4953000" y="1333500"/>
            <a:ext cx="3619500" cy="619200"/>
            <a:chOff x="4953000" y="1333500"/>
            <a:chExt cx="3619500" cy="619200"/>
          </a:xfrm>
        </p:grpSpPr>
        <p:sp>
          <p:nvSpPr>
            <p:cNvPr id="92" name="Google Shape;92;p15"/>
            <p:cNvSpPr/>
            <p:nvPr/>
          </p:nvSpPr>
          <p:spPr>
            <a:xfrm>
              <a:off x="4953000" y="1333500"/>
              <a:ext cx="3619500" cy="619200"/>
            </a:xfrm>
            <a:prstGeom prst="roundRect">
              <a:avLst>
                <a:gd fmla="val 12307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5"/>
            <p:cNvSpPr txBox="1"/>
            <p:nvPr/>
          </p:nvSpPr>
          <p:spPr>
            <a:xfrm>
              <a:off x="4953000" y="1333500"/>
              <a:ext cx="3619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3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GAN Model</a:t>
              </a:r>
              <a:endParaRPr b="1" sz="1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it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Generates deepfake content with high-frequency artifacts</a:t>
              </a:r>
              <a:endParaRPr b="0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94" name="Google Shape;9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0838" y="2033588"/>
            <a:ext cx="123900" cy="219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" name="Google Shape;95;p15"/>
          <p:cNvGrpSpPr/>
          <p:nvPr/>
        </p:nvGrpSpPr>
        <p:grpSpPr>
          <a:xfrm>
            <a:off x="4953000" y="2333625"/>
            <a:ext cx="3619500" cy="619200"/>
            <a:chOff x="4953000" y="2333625"/>
            <a:chExt cx="3619500" cy="619200"/>
          </a:xfrm>
        </p:grpSpPr>
        <p:sp>
          <p:nvSpPr>
            <p:cNvPr id="96" name="Google Shape;96;p15"/>
            <p:cNvSpPr/>
            <p:nvPr/>
          </p:nvSpPr>
          <p:spPr>
            <a:xfrm>
              <a:off x="4953000" y="2333625"/>
              <a:ext cx="3619500" cy="619200"/>
            </a:xfrm>
            <a:prstGeom prst="roundRect">
              <a:avLst>
                <a:gd fmla="val 1230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 txBox="1"/>
            <p:nvPr/>
          </p:nvSpPr>
          <p:spPr>
            <a:xfrm>
              <a:off x="4953000" y="2333625"/>
              <a:ext cx="3619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30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Micro-Fingerprints</a:t>
              </a:r>
              <a:endParaRPr b="1" sz="13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it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Subtle, low-level statistical forensic traces</a:t>
              </a:r>
              <a:endParaRPr b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0838" y="3033713"/>
            <a:ext cx="123900" cy="219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" name="Google Shape;99;p15"/>
          <p:cNvGrpSpPr/>
          <p:nvPr/>
        </p:nvGrpSpPr>
        <p:grpSpPr>
          <a:xfrm>
            <a:off x="4953000" y="3333750"/>
            <a:ext cx="3619500" cy="714300"/>
            <a:chOff x="4953000" y="3333750"/>
            <a:chExt cx="3619500" cy="714300"/>
          </a:xfrm>
        </p:grpSpPr>
        <p:sp>
          <p:nvSpPr>
            <p:cNvPr id="100" name="Google Shape;100;p15"/>
            <p:cNvSpPr/>
            <p:nvPr/>
          </p:nvSpPr>
          <p:spPr>
            <a:xfrm>
              <a:off x="4953000" y="3333750"/>
              <a:ext cx="3619500" cy="714300"/>
            </a:xfrm>
            <a:prstGeom prst="roundRect">
              <a:avLst>
                <a:gd fmla="val 10666" name="adj"/>
              </a:avLst>
            </a:prstGeom>
            <a:solidFill>
              <a:srgbClr val="8200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5"/>
            <p:cNvSpPr txBox="1"/>
            <p:nvPr/>
          </p:nvSpPr>
          <p:spPr>
            <a:xfrm>
              <a:off x="4953000" y="3333750"/>
              <a:ext cx="3619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3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JPEG AI Neural Codec</a:t>
              </a:r>
              <a:endParaRPr b="1" sz="1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it" sz="1050">
                  <a:solidFill>
                    <a:srgbClr val="FECDD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Wipes forensic traces &amp; overwrites with network signature</a:t>
              </a:r>
              <a:endParaRPr b="0" sz="1050">
                <a:solidFill>
                  <a:srgbClr val="FECDD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102" name="Google Shape;102;p15"/>
          <p:cNvSpPr txBox="1"/>
          <p:nvPr/>
        </p:nvSpPr>
        <p:spPr>
          <a:xfrm>
            <a:off x="7620000" y="4524375"/>
            <a:ext cx="952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03 / 1</a:t>
            </a:r>
            <a:r>
              <a:rPr lang="it" sz="1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3</a:t>
            </a:r>
            <a:endParaRPr b="0" sz="1000">
              <a:solidFill>
                <a:srgbClr val="94A3B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/>
        </p:nvSpPr>
        <p:spPr>
          <a:xfrm>
            <a:off x="400050" y="121450"/>
            <a:ext cx="7620000" cy="61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2400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Problem Statement: Forensic </a:t>
            </a:r>
            <a:r>
              <a:rPr lang="it" sz="2400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Analysis</a:t>
            </a:r>
            <a:endParaRPr b="0" sz="2400">
              <a:solidFill>
                <a:srgbClr val="0F172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208125" y="1095225"/>
            <a:ext cx="35244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Inter"/>
              <a:buChar char="●"/>
            </a:pPr>
            <a:r>
              <a:rPr b="1" lang="it" sz="11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High-Frequency Tracking:</a:t>
            </a:r>
            <a:r>
              <a:rPr lang="it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Analysis is performed on high-pass noise residuals to expose hidden, low-level generative fingerprints.</a:t>
            </a:r>
            <a:endParaRPr sz="11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1625" lvl="0" marL="457200" rtl="0" algn="l">
              <a:spcBef>
                <a:spcPts val="120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Inter"/>
              <a:buChar char="●"/>
            </a:pPr>
            <a:r>
              <a:rPr b="1" lang="it" sz="11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2D Fourier Star Pattern:</a:t>
            </a:r>
            <a:r>
              <a:rPr lang="it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Neural compression forces a distinct, highly directional </a:t>
            </a:r>
            <a:r>
              <a:rPr b="1" lang="it" sz="1150">
                <a:solidFill>
                  <a:srgbClr val="820024"/>
                </a:solidFill>
                <a:latin typeface="Inter"/>
                <a:ea typeface="Inter"/>
                <a:cs typeface="Inter"/>
                <a:sym typeface="Inter"/>
              </a:rPr>
              <a:t>"bright cross"</a:t>
            </a:r>
            <a:r>
              <a:rPr lang="it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onto the pixel spectrum, signaling a codec stamp.</a:t>
            </a:r>
            <a:endParaRPr sz="11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1625" lvl="0" marL="457200" rtl="0" algn="l">
              <a:spcBef>
                <a:spcPts val="120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Inter"/>
              <a:buChar char="●"/>
            </a:pPr>
            <a:r>
              <a:rPr b="1" lang="it" sz="11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DCT Magnitude Suppression:</a:t>
            </a:r>
            <a:r>
              <a:rPr lang="it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Codecs aggressively eliminate fine details, crushing the statistical distribution of DCT coefficients toward zero.</a:t>
            </a:r>
            <a:endParaRPr sz="11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1625" lvl="0" marL="457200" rtl="0" algn="l">
              <a:spcBef>
                <a:spcPts val="1200"/>
              </a:spcBef>
              <a:spcAft>
                <a:spcPts val="1200"/>
              </a:spcAft>
              <a:buClr>
                <a:srgbClr val="475569"/>
              </a:buClr>
              <a:buSzPts val="1150"/>
              <a:buFont typeface="Inter"/>
              <a:buChar char="●"/>
            </a:pPr>
            <a:r>
              <a:rPr b="1" lang="it" sz="115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Fingerprint Erasure:</a:t>
            </a:r>
            <a:r>
              <a:rPr lang="it" sz="105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it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difference map </a:t>
            </a:r>
            <a:r>
              <a:rPr i="1" lang="it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(original − compressed)</a:t>
            </a:r>
            <a:r>
              <a:rPr lang="it"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isolates the exact high-frequency energy that JPEG AI strips away — the bright central core marks the fingerprint the codec removes. </a:t>
            </a:r>
            <a:endParaRPr sz="11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9" name="Google Shape;109;p16"/>
          <p:cNvPicPr preferRelativeResize="0"/>
          <p:nvPr/>
        </p:nvPicPr>
        <p:blipFill rotWithShape="1">
          <a:blip r:embed="rId3">
            <a:alphaModFix/>
          </a:blip>
          <a:srcRect b="249" l="0" r="0" t="259"/>
          <a:stretch/>
        </p:blipFill>
        <p:spPr>
          <a:xfrm>
            <a:off x="4057375" y="740650"/>
            <a:ext cx="4648200" cy="11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 txBox="1"/>
          <p:nvPr/>
        </p:nvSpPr>
        <p:spPr>
          <a:xfrm>
            <a:off x="7599350" y="4532975"/>
            <a:ext cx="952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04 / 1</a:t>
            </a:r>
            <a:r>
              <a:rPr lang="it" sz="1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3</a:t>
            </a:r>
            <a:endParaRPr b="0" sz="1000">
              <a:solidFill>
                <a:srgbClr val="94A3B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11" name="Google Shape;111;p16"/>
          <p:cNvPicPr preferRelativeResize="0"/>
          <p:nvPr/>
        </p:nvPicPr>
        <p:blipFill rotWithShape="1">
          <a:blip r:embed="rId4">
            <a:alphaModFix/>
          </a:blip>
          <a:srcRect b="0" l="0" r="0" t="1117"/>
          <a:stretch/>
        </p:blipFill>
        <p:spPr>
          <a:xfrm>
            <a:off x="3857450" y="1931350"/>
            <a:ext cx="3616975" cy="240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99350" y="2149938"/>
            <a:ext cx="1337025" cy="1414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/>
        </p:nvSpPr>
        <p:spPr>
          <a:xfrm>
            <a:off x="400050" y="333375"/>
            <a:ext cx="7620000" cy="61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3200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State of the Art</a:t>
            </a:r>
            <a:endParaRPr b="0" sz="3200">
              <a:solidFill>
                <a:srgbClr val="0F172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400050" y="1047750"/>
            <a:ext cx="4381500" cy="3429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CNNDetection Detector</a:t>
            </a:r>
            <a:r>
              <a:rPr b="0" lang="it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lang="it" sz="1000">
                <a:solidFill>
                  <a:srgbClr val="8200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(Wang et al., CVPR 2020)</a:t>
            </a:r>
            <a:endParaRPr b="0" sz="10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it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ResNet50-based model built on the premise that CNN-generated images share common architectural artifacts.</a:t>
            </a:r>
            <a:endParaRPr b="0" sz="10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it" sz="105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Evaluated via two training configurations with an augmentation of Gaussian blurring and standard JPEG compression:</a:t>
            </a:r>
            <a:endParaRPr b="0" sz="10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5275" lvl="0" marL="457200" rtl="0" algn="l">
              <a:spcBef>
                <a:spcPts val="45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Inter"/>
              <a:buChar char="●"/>
            </a:pPr>
            <a:r>
              <a:rPr b="0" lang="it" sz="1050">
                <a:solidFill>
                  <a:srgbClr val="8200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prob0.1</a:t>
            </a:r>
            <a:r>
              <a:rPr b="0" lang="it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: highly vulnerable baseline with light augmentation.</a:t>
            </a:r>
            <a:endParaRPr b="0" sz="10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5275" lvl="0" marL="457200" rtl="0" algn="l">
              <a:spcBef>
                <a:spcPts val="30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Inter"/>
              <a:buChar char="●"/>
            </a:pPr>
            <a:r>
              <a:rPr b="0" lang="it" sz="1050">
                <a:solidFill>
                  <a:srgbClr val="8200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prob0.5</a:t>
            </a:r>
            <a:r>
              <a:rPr b="0" lang="it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: robust baseline featuring heavy augmentation.</a:t>
            </a:r>
            <a:endParaRPr b="0" sz="10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The Core Research Gap</a:t>
            </a:r>
            <a:endParaRPr b="0" sz="10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it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forensic vulnerabilities induced by the newly established neural standard JPEG AI remain almost entirely unmapped in active literature.</a:t>
            </a:r>
            <a:endParaRPr b="0" sz="10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it" sz="105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Our project</a:t>
            </a:r>
            <a:r>
              <a:rPr b="0" lang="it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reproduces the severe degradation challenges introduced by </a:t>
            </a:r>
            <a:r>
              <a:rPr b="0" i="1" lang="it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Cannas et al. (ICCVW 2025)</a:t>
            </a:r>
            <a:r>
              <a:rPr b="0" lang="it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while constructing ad-hoc mitigation strategies.</a:t>
            </a:r>
            <a:endParaRPr b="0" sz="10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19" name="Google Shape;119;p17"/>
          <p:cNvGrpSpPr/>
          <p:nvPr/>
        </p:nvGrpSpPr>
        <p:grpSpPr>
          <a:xfrm>
            <a:off x="5143500" y="1143000"/>
            <a:ext cx="3429000" cy="3000375"/>
            <a:chOff x="5143500" y="1143000"/>
            <a:chExt cx="3429000" cy="3000375"/>
          </a:xfrm>
        </p:grpSpPr>
        <p:sp>
          <p:nvSpPr>
            <p:cNvPr id="120" name="Google Shape;120;p17"/>
            <p:cNvSpPr/>
            <p:nvPr/>
          </p:nvSpPr>
          <p:spPr>
            <a:xfrm>
              <a:off x="5143500" y="1143000"/>
              <a:ext cx="3429000" cy="762000"/>
            </a:xfrm>
            <a:prstGeom prst="roundRect">
              <a:avLst>
                <a:gd fmla="val 100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7"/>
            <p:cNvSpPr txBox="1"/>
            <p:nvPr/>
          </p:nvSpPr>
          <p:spPr>
            <a:xfrm>
              <a:off x="5143500" y="1143000"/>
              <a:ext cx="3429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30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Input Image</a:t>
              </a:r>
              <a:endParaRPr b="1" sz="13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it" sz="10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224 × 224 pixels</a:t>
              </a:r>
              <a:endParaRPr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22" name="Google Shape;122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810375" y="1895475"/>
              <a:ext cx="95400" cy="257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17"/>
            <p:cNvSpPr/>
            <p:nvPr/>
          </p:nvSpPr>
          <p:spPr>
            <a:xfrm>
              <a:off x="5143500" y="2238375"/>
              <a:ext cx="3429000" cy="809700"/>
            </a:xfrm>
            <a:prstGeom prst="roundRect">
              <a:avLst>
                <a:gd fmla="val 9411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7"/>
            <p:cNvSpPr txBox="1"/>
            <p:nvPr/>
          </p:nvSpPr>
          <p:spPr>
            <a:xfrm>
              <a:off x="5143500" y="2238375"/>
              <a:ext cx="3429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ResNet50 Backbone</a:t>
              </a:r>
              <a:endParaRPr b="1" sz="1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it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Feature Extraction &amp; Artifact Mapping</a:t>
              </a:r>
              <a:endParaRPr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25" name="Google Shape;125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810375" y="3038475"/>
              <a:ext cx="95400" cy="257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" name="Google Shape;126;p17"/>
            <p:cNvSpPr/>
            <p:nvPr/>
          </p:nvSpPr>
          <p:spPr>
            <a:xfrm>
              <a:off x="5143500" y="3381375"/>
              <a:ext cx="3429000" cy="762000"/>
            </a:xfrm>
            <a:prstGeom prst="roundRect">
              <a:avLst>
                <a:gd fmla="val 10000" name="adj"/>
              </a:avLst>
            </a:prstGeom>
            <a:solidFill>
              <a:srgbClr val="8200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7"/>
            <p:cNvSpPr txBox="1"/>
            <p:nvPr/>
          </p:nvSpPr>
          <p:spPr>
            <a:xfrm>
              <a:off x="5143500" y="3381375"/>
              <a:ext cx="3429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3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Binary Logit Output</a:t>
              </a:r>
              <a:endParaRPr b="1" sz="1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it" sz="1050">
                  <a:solidFill>
                    <a:srgbClr val="FECDD3"/>
                  </a:solidFill>
                  <a:latin typeface="Inter"/>
                  <a:ea typeface="Inter"/>
                  <a:cs typeface="Inter"/>
                  <a:sym typeface="Inter"/>
                </a:rPr>
                <a:t>Classification (Real vs. Fake)</a:t>
              </a:r>
              <a:endParaRPr sz="1050">
                <a:solidFill>
                  <a:srgbClr val="FECDD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8" name="Google Shape;128;p17"/>
          <p:cNvSpPr txBox="1"/>
          <p:nvPr/>
        </p:nvSpPr>
        <p:spPr>
          <a:xfrm>
            <a:off x="400050" y="4476750"/>
            <a:ext cx="666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723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[1] Wang, S.-Y., Wang, O., Zhang, R., Owens, A., &amp; Efros, A. A. (2020). CNN-generated images are surprisingly easy to spot... In </a:t>
            </a:r>
            <a:r>
              <a:rPr b="0" i="1" lang="it" sz="723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Proceedings of the IEEE/CVF CVPR</a:t>
            </a:r>
            <a:r>
              <a:rPr b="0" lang="it" sz="723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sz="723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it" sz="723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[2] </a:t>
            </a:r>
            <a:r>
              <a:rPr lang="it" sz="7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E. D. Cannas, P. Bestagini, S. Tubaro, et al., "Is JPEG AI Going to Change Image Forensics?", IEEE/CVF International Conference on Computer Vision Workshops (ICCVW), 2025.</a:t>
            </a:r>
            <a:endParaRPr sz="7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3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7620000" y="4524375"/>
            <a:ext cx="952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05 / 1</a:t>
            </a:r>
            <a:r>
              <a:rPr lang="it" sz="1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3</a:t>
            </a:r>
            <a:endParaRPr b="0" sz="1000">
              <a:solidFill>
                <a:srgbClr val="94A3B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/>
          <p:nvPr>
            <p:ph type="title"/>
          </p:nvPr>
        </p:nvSpPr>
        <p:spPr>
          <a:xfrm>
            <a:off x="400050" y="333375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3200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Proposed Method</a:t>
            </a:r>
            <a:endParaRPr b="0" sz="3200">
              <a:solidFill>
                <a:srgbClr val="0F172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135" name="Google Shape;135;p18"/>
          <p:cNvGrpSpPr/>
          <p:nvPr/>
        </p:nvGrpSpPr>
        <p:grpSpPr>
          <a:xfrm>
            <a:off x="400050" y="1047750"/>
            <a:ext cx="2628900" cy="2952900"/>
            <a:chOff x="400050" y="1047750"/>
            <a:chExt cx="2628900" cy="2952900"/>
          </a:xfrm>
        </p:grpSpPr>
        <p:sp>
          <p:nvSpPr>
            <p:cNvPr id="136" name="Google Shape;136;p18"/>
            <p:cNvSpPr txBox="1"/>
            <p:nvPr/>
          </p:nvSpPr>
          <p:spPr>
            <a:xfrm>
              <a:off x="400050" y="1047750"/>
              <a:ext cx="26289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2380">
                  <a:solidFill>
                    <a:srgbClr val="820024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01</a:t>
              </a:r>
              <a:endParaRPr b="0" sz="2380">
                <a:solidFill>
                  <a:srgbClr val="82002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137" name="Google Shape;137;p18"/>
            <p:cNvCxnSpPr/>
            <p:nvPr/>
          </p:nvCxnSpPr>
          <p:spPr>
            <a:xfrm>
              <a:off x="400050" y="1476375"/>
              <a:ext cx="571500" cy="0"/>
            </a:xfrm>
            <a:prstGeom prst="straightConnector1">
              <a:avLst/>
            </a:prstGeom>
            <a:solidFill>
              <a:srgbClr val="FFFFFF"/>
            </a:solidFill>
            <a:ln cap="flat" cmpd="sng" w="28575">
              <a:solidFill>
                <a:srgbClr val="82002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8" name="Google Shape;138;p18"/>
            <p:cNvSpPr txBox="1"/>
            <p:nvPr/>
          </p:nvSpPr>
          <p:spPr>
            <a:xfrm>
              <a:off x="400050" y="1619250"/>
              <a:ext cx="26289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30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Fine-Tuning: Augmentation</a:t>
              </a:r>
              <a:endParaRPr b="1" sz="13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9" name="Google Shape;139;p18"/>
            <p:cNvSpPr txBox="1"/>
            <p:nvPr/>
          </p:nvSpPr>
          <p:spPr>
            <a:xfrm>
              <a:off x="400050" y="2047875"/>
              <a:ext cx="26289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Retrains the detector on a 50/50 mix of original and JPEG-AI-compressed images.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it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Creates two bitrate-specialized experts: low </a:t>
              </a:r>
              <a:r>
                <a:rPr b="1" lang="it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(0.12–0.25 bpp)</a:t>
              </a:r>
              <a:r>
                <a:rPr b="0" lang="it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and high </a:t>
              </a:r>
              <a:r>
                <a:rPr b="1" lang="it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(0.50–0.75 bpp)</a:t>
              </a:r>
              <a:r>
                <a:rPr b="0" lang="it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to combat codec loss.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0" name="Google Shape;140;p18"/>
            <p:cNvSpPr/>
            <p:nvPr/>
          </p:nvSpPr>
          <p:spPr>
            <a:xfrm>
              <a:off x="400050" y="3143250"/>
              <a:ext cx="2628900" cy="8574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8"/>
            <p:cNvSpPr txBox="1"/>
            <p:nvPr/>
          </p:nvSpPr>
          <p:spPr>
            <a:xfrm>
              <a:off x="400050" y="3143250"/>
              <a:ext cx="26289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76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JPEG AI Compression</a:t>
              </a:r>
              <a:endParaRPr b="1" sz="76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it" sz="765">
                  <a:solidFill>
                    <a:srgbClr val="820024"/>
                  </a:solidFill>
                  <a:latin typeface="Inter"/>
                  <a:ea typeface="Inter"/>
                  <a:cs typeface="Inter"/>
                  <a:sym typeface="Inter"/>
                </a:rPr>
                <a:t>↓</a:t>
              </a:r>
              <a:endParaRPr b="1" sz="765">
                <a:solidFill>
                  <a:srgbClr val="82002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it" sz="765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50/50 Dataset (Orig + Comp)</a:t>
              </a:r>
              <a:endParaRPr b="0" sz="765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it" sz="765">
                  <a:solidFill>
                    <a:srgbClr val="820024"/>
                  </a:solidFill>
                  <a:latin typeface="Inter"/>
                  <a:ea typeface="Inter"/>
                  <a:cs typeface="Inter"/>
                  <a:sym typeface="Inter"/>
                </a:rPr>
                <a:t>↓</a:t>
              </a:r>
              <a:endParaRPr b="1" sz="765">
                <a:solidFill>
                  <a:srgbClr val="82002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it" sz="765">
                  <a:solidFill>
                    <a:srgbClr val="820024"/>
                  </a:solidFill>
                  <a:latin typeface="Inter"/>
                  <a:ea typeface="Inter"/>
                  <a:cs typeface="Inter"/>
                  <a:sym typeface="Inter"/>
                </a:rPr>
                <a:t>Fine-Tune &amp; Experts</a:t>
              </a:r>
              <a:endParaRPr b="1" sz="765">
                <a:solidFill>
                  <a:srgbClr val="82002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2" name="Google Shape;142;p18"/>
          <p:cNvGrpSpPr/>
          <p:nvPr/>
        </p:nvGrpSpPr>
        <p:grpSpPr>
          <a:xfrm>
            <a:off x="3257550" y="1047750"/>
            <a:ext cx="2628900" cy="2952900"/>
            <a:chOff x="3257550" y="1047750"/>
            <a:chExt cx="2628900" cy="2952900"/>
          </a:xfrm>
        </p:grpSpPr>
        <p:sp>
          <p:nvSpPr>
            <p:cNvPr id="143" name="Google Shape;143;p18"/>
            <p:cNvSpPr txBox="1"/>
            <p:nvPr/>
          </p:nvSpPr>
          <p:spPr>
            <a:xfrm>
              <a:off x="3257550" y="1047750"/>
              <a:ext cx="26289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2380">
                  <a:solidFill>
                    <a:srgbClr val="820024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02</a:t>
              </a:r>
              <a:endParaRPr b="0" sz="2380">
                <a:solidFill>
                  <a:srgbClr val="82002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144" name="Google Shape;144;p18"/>
            <p:cNvCxnSpPr/>
            <p:nvPr/>
          </p:nvCxnSpPr>
          <p:spPr>
            <a:xfrm>
              <a:off x="3257550" y="1476375"/>
              <a:ext cx="571500" cy="0"/>
            </a:xfrm>
            <a:prstGeom prst="straightConnector1">
              <a:avLst/>
            </a:prstGeom>
            <a:solidFill>
              <a:srgbClr val="FFFFFF"/>
            </a:solidFill>
            <a:ln cap="flat" cmpd="sng" w="28575">
              <a:solidFill>
                <a:srgbClr val="82002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5" name="Google Shape;145;p18"/>
            <p:cNvSpPr txBox="1"/>
            <p:nvPr/>
          </p:nvSpPr>
          <p:spPr>
            <a:xfrm>
              <a:off x="3257550" y="1619250"/>
              <a:ext cx="26289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30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Fine-Tuning: Consistency</a:t>
              </a:r>
              <a:endParaRPr b="1" sz="13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6" name="Google Shape;146;p18"/>
            <p:cNvSpPr txBox="1"/>
            <p:nvPr/>
          </p:nvSpPr>
          <p:spPr>
            <a:xfrm>
              <a:off x="3257550" y="2047875"/>
              <a:ext cx="26289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Adds an invariance loss on original-compressed pairs, forcing matching scores: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it" sz="85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BCE(orig) + BCE(comp) + λ·MSE(σ(orig), σ(comp))</a:t>
              </a:r>
              <a:endParaRPr b="1" sz="850">
                <a:solidFill>
                  <a:srgbClr val="0F172A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7" name="Google Shape;147;p18"/>
            <p:cNvSpPr/>
            <p:nvPr/>
          </p:nvSpPr>
          <p:spPr>
            <a:xfrm>
              <a:off x="3257550" y="3143250"/>
              <a:ext cx="2628900" cy="8574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8"/>
            <p:cNvSpPr txBox="1"/>
            <p:nvPr/>
          </p:nvSpPr>
          <p:spPr>
            <a:xfrm>
              <a:off x="3257550" y="3143250"/>
              <a:ext cx="26289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76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JPEG AI Compression</a:t>
              </a:r>
              <a:endParaRPr b="1" sz="76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it" sz="765">
                  <a:solidFill>
                    <a:srgbClr val="820024"/>
                  </a:solidFill>
                  <a:latin typeface="Inter"/>
                  <a:ea typeface="Inter"/>
                  <a:cs typeface="Inter"/>
                  <a:sym typeface="Inter"/>
                </a:rPr>
                <a:t>↓</a:t>
              </a:r>
              <a:endParaRPr b="1" sz="765">
                <a:solidFill>
                  <a:srgbClr val="82002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it" sz="765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Paired Dataset (Orig ↔ Comp)</a:t>
              </a:r>
              <a:endParaRPr b="0" sz="765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it" sz="765">
                  <a:solidFill>
                    <a:srgbClr val="820024"/>
                  </a:solidFill>
                  <a:latin typeface="Inter"/>
                  <a:ea typeface="Inter"/>
                  <a:cs typeface="Inter"/>
                  <a:sym typeface="Inter"/>
                </a:rPr>
                <a:t>↓</a:t>
              </a:r>
              <a:endParaRPr b="1" sz="765">
                <a:solidFill>
                  <a:srgbClr val="82002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it" sz="765">
                  <a:solidFill>
                    <a:srgbClr val="820024"/>
                  </a:solidFill>
                  <a:latin typeface="Inter"/>
                  <a:ea typeface="Inter"/>
                  <a:cs typeface="Inter"/>
                  <a:sym typeface="Inter"/>
                </a:rPr>
                <a:t>Consistency Loss Fine-Tune</a:t>
              </a:r>
              <a:endParaRPr b="1" sz="765">
                <a:solidFill>
                  <a:srgbClr val="82002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9" name="Google Shape;149;p18"/>
          <p:cNvGrpSpPr/>
          <p:nvPr/>
        </p:nvGrpSpPr>
        <p:grpSpPr>
          <a:xfrm>
            <a:off x="6115050" y="1047750"/>
            <a:ext cx="2628900" cy="2952900"/>
            <a:chOff x="6115050" y="1047750"/>
            <a:chExt cx="2628900" cy="2952900"/>
          </a:xfrm>
        </p:grpSpPr>
        <p:sp>
          <p:nvSpPr>
            <p:cNvPr id="150" name="Google Shape;150;p18"/>
            <p:cNvSpPr txBox="1"/>
            <p:nvPr/>
          </p:nvSpPr>
          <p:spPr>
            <a:xfrm>
              <a:off x="6115050" y="1047750"/>
              <a:ext cx="26289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2380">
                  <a:solidFill>
                    <a:srgbClr val="820024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03</a:t>
              </a:r>
              <a:endParaRPr b="0" sz="2380">
                <a:solidFill>
                  <a:srgbClr val="82002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cxnSp>
          <p:nvCxnSpPr>
            <p:cNvPr id="151" name="Google Shape;151;p18"/>
            <p:cNvCxnSpPr/>
            <p:nvPr/>
          </p:nvCxnSpPr>
          <p:spPr>
            <a:xfrm>
              <a:off x="6115050" y="1476375"/>
              <a:ext cx="571500" cy="0"/>
            </a:xfrm>
            <a:prstGeom prst="straightConnector1">
              <a:avLst/>
            </a:prstGeom>
            <a:solidFill>
              <a:srgbClr val="FFFFFF"/>
            </a:solidFill>
            <a:ln cap="flat" cmpd="sng" w="28575">
              <a:solidFill>
                <a:srgbClr val="82002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2" name="Google Shape;152;p18"/>
            <p:cNvSpPr txBox="1"/>
            <p:nvPr/>
          </p:nvSpPr>
          <p:spPr>
            <a:xfrm>
              <a:off x="6115050" y="1619250"/>
              <a:ext cx="26289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30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Test-Time Sharpening</a:t>
              </a:r>
              <a:endParaRPr b="1" sz="13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3" name="Google Shape;153;p18"/>
            <p:cNvSpPr txBox="1"/>
            <p:nvPr/>
          </p:nvSpPr>
          <p:spPr>
            <a:xfrm>
              <a:off x="6115050" y="2047875"/>
              <a:ext cx="26289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Test-time preprocessing only, requiring no neural network retraining.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it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Applies an unsharp mask before detection to restore high-frequency traces smoothed away by the JPEG AI codec.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4" name="Google Shape;154;p18"/>
            <p:cNvSpPr/>
            <p:nvPr/>
          </p:nvSpPr>
          <p:spPr>
            <a:xfrm>
              <a:off x="6115050" y="3143250"/>
              <a:ext cx="2628900" cy="8574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8"/>
            <p:cNvSpPr txBox="1"/>
            <p:nvPr/>
          </p:nvSpPr>
          <p:spPr>
            <a:xfrm>
              <a:off x="6115050" y="3143250"/>
              <a:ext cx="26289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76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JPEG AI Compression</a:t>
              </a:r>
              <a:endParaRPr i="1" sz="765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it" sz="765">
                  <a:solidFill>
                    <a:srgbClr val="820024"/>
                  </a:solidFill>
                  <a:latin typeface="Inter"/>
                  <a:ea typeface="Inter"/>
                  <a:cs typeface="Inter"/>
                  <a:sym typeface="Inter"/>
                </a:rPr>
                <a:t>↓</a:t>
              </a:r>
              <a:endParaRPr b="1" sz="765">
                <a:solidFill>
                  <a:srgbClr val="82002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it" sz="76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At Inference: Sharpen Image</a:t>
              </a:r>
              <a:endParaRPr b="1" sz="76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it" sz="765">
                  <a:solidFill>
                    <a:srgbClr val="820024"/>
                  </a:solidFill>
                  <a:latin typeface="Inter"/>
                  <a:ea typeface="Inter"/>
                  <a:cs typeface="Inter"/>
                  <a:sym typeface="Inter"/>
                </a:rPr>
                <a:t>↓</a:t>
              </a:r>
              <a:endParaRPr b="1" sz="765">
                <a:solidFill>
                  <a:srgbClr val="82002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it" sz="765">
                  <a:solidFill>
                    <a:srgbClr val="820024"/>
                  </a:solidFill>
                  <a:latin typeface="Inter"/>
                  <a:ea typeface="Inter"/>
                  <a:cs typeface="Inter"/>
                  <a:sym typeface="Inter"/>
                </a:rPr>
                <a:t>Standard Detector</a:t>
              </a:r>
              <a:endParaRPr b="1" sz="765">
                <a:solidFill>
                  <a:srgbClr val="82002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6" name="Google Shape;156;p18"/>
          <p:cNvGrpSpPr/>
          <p:nvPr/>
        </p:nvGrpSpPr>
        <p:grpSpPr>
          <a:xfrm>
            <a:off x="400050" y="4142325"/>
            <a:ext cx="8343900" cy="620175"/>
            <a:chOff x="400050" y="4142325"/>
            <a:chExt cx="8343900" cy="620175"/>
          </a:xfrm>
        </p:grpSpPr>
        <p:sp>
          <p:nvSpPr>
            <p:cNvPr id="157" name="Google Shape;157;p18"/>
            <p:cNvSpPr/>
            <p:nvPr/>
          </p:nvSpPr>
          <p:spPr>
            <a:xfrm>
              <a:off x="400050" y="4191000"/>
              <a:ext cx="8343900" cy="571500"/>
            </a:xfrm>
            <a:prstGeom prst="roundRect">
              <a:avLst>
                <a:gd fmla="val 100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8"/>
            <p:cNvSpPr/>
            <p:nvPr/>
          </p:nvSpPr>
          <p:spPr>
            <a:xfrm>
              <a:off x="400050" y="4191000"/>
              <a:ext cx="38100" cy="571500"/>
            </a:xfrm>
            <a:prstGeom prst="roundRect">
              <a:avLst>
                <a:gd fmla="val 50000" name="adj"/>
              </a:avLst>
            </a:prstGeom>
            <a:solidFill>
              <a:srgbClr val="8200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8"/>
            <p:cNvSpPr txBox="1"/>
            <p:nvPr/>
          </p:nvSpPr>
          <p:spPr>
            <a:xfrm>
              <a:off x="524700" y="4142325"/>
              <a:ext cx="8001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5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Trade-off: </a:t>
              </a:r>
              <a:r>
                <a:rPr b="0" lang="it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Strategies </a:t>
              </a:r>
              <a:r>
                <a:rPr b="1" lang="it" sz="1000">
                  <a:solidFill>
                    <a:srgbClr val="820024"/>
                  </a:solidFill>
                  <a:latin typeface="Inter"/>
                  <a:ea typeface="Inter"/>
                  <a:cs typeface="Inter"/>
                  <a:sym typeface="Inter"/>
                </a:rPr>
                <a:t>01</a:t>
              </a:r>
              <a:r>
                <a:rPr b="0" lang="it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and </a:t>
              </a:r>
              <a:r>
                <a:rPr b="1" lang="it" sz="1000">
                  <a:solidFill>
                    <a:srgbClr val="820024"/>
                  </a:solidFill>
                  <a:latin typeface="Inter"/>
                  <a:ea typeface="Inter"/>
                  <a:cs typeface="Inter"/>
                  <a:sym typeface="Inter"/>
                </a:rPr>
                <a:t>02</a:t>
              </a:r>
              <a:r>
                <a:rPr b="0" lang="it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shift computational cost to a one-time offline training (zero run-time overhead). Strategy </a:t>
              </a:r>
              <a:r>
                <a:rPr b="1" lang="it" sz="1000">
                  <a:solidFill>
                    <a:srgbClr val="820024"/>
                  </a:solidFill>
                  <a:latin typeface="Inter"/>
                  <a:ea typeface="Inter"/>
                  <a:cs typeface="Inter"/>
                  <a:sym typeface="Inter"/>
                </a:rPr>
                <a:t>03</a:t>
              </a:r>
              <a:r>
                <a:rPr b="0" lang="it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avoids training entirely but increases inference latency and degrades detection accuracy.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60" name="Google Shape;160;p18"/>
          <p:cNvSpPr txBox="1"/>
          <p:nvPr/>
        </p:nvSpPr>
        <p:spPr>
          <a:xfrm>
            <a:off x="7856227" y="4762500"/>
            <a:ext cx="952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0</a:t>
            </a:r>
            <a:r>
              <a:rPr lang="it" sz="1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6</a:t>
            </a:r>
            <a:r>
              <a:rPr b="0" lang="it" sz="1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 / 1</a:t>
            </a:r>
            <a:r>
              <a:rPr lang="it" sz="1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3</a:t>
            </a:r>
            <a:endParaRPr b="0" sz="1000">
              <a:solidFill>
                <a:srgbClr val="94A3B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 txBox="1"/>
          <p:nvPr/>
        </p:nvSpPr>
        <p:spPr>
          <a:xfrm>
            <a:off x="400050" y="333375"/>
            <a:ext cx="7620000" cy="61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3200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Dataset</a:t>
            </a:r>
            <a:endParaRPr b="0" sz="3200">
              <a:solidFill>
                <a:srgbClr val="0F172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166" name="Google Shape;166;p19"/>
          <p:cNvGrpSpPr/>
          <p:nvPr/>
        </p:nvGrpSpPr>
        <p:grpSpPr>
          <a:xfrm>
            <a:off x="400050" y="1190625"/>
            <a:ext cx="2628900" cy="2952900"/>
            <a:chOff x="400050" y="1190625"/>
            <a:chExt cx="2628900" cy="2952900"/>
          </a:xfrm>
        </p:grpSpPr>
        <p:sp>
          <p:nvSpPr>
            <p:cNvPr id="167" name="Google Shape;167;p19"/>
            <p:cNvSpPr/>
            <p:nvPr/>
          </p:nvSpPr>
          <p:spPr>
            <a:xfrm>
              <a:off x="400050" y="1190625"/>
              <a:ext cx="2628900" cy="2952900"/>
            </a:xfrm>
            <a:prstGeom prst="roundRect">
              <a:avLst>
                <a:gd fmla="val 2898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9"/>
            <p:cNvSpPr txBox="1"/>
            <p:nvPr/>
          </p:nvSpPr>
          <p:spPr>
            <a:xfrm>
              <a:off x="400050" y="1190625"/>
              <a:ext cx="2628900" cy="295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30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Sources &amp; Format</a:t>
              </a:r>
              <a:endParaRPr b="1" sz="13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it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Core Benchmark:</a:t>
              </a:r>
              <a:r>
                <a:rPr lang="it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ProGAN dataset (extracted from the official CNNDetection testing splits).</a:t>
              </a:r>
              <a:endParaRPr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it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Image Sources:</a:t>
              </a:r>
              <a:r>
                <a:rPr lang="it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Real photographs from LSUN alongside synthetic images generated via ProGAN.</a:t>
              </a:r>
              <a:endParaRPr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it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Resolution:</a:t>
              </a:r>
              <a:r>
                <a:rPr lang="it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Uniformized at a native resolution of 256×256 pixels.</a:t>
              </a:r>
              <a:endParaRPr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9" name="Google Shape;169;p19"/>
          <p:cNvGrpSpPr/>
          <p:nvPr/>
        </p:nvGrpSpPr>
        <p:grpSpPr>
          <a:xfrm>
            <a:off x="3257550" y="1190625"/>
            <a:ext cx="2628900" cy="2952900"/>
            <a:chOff x="3257550" y="1190625"/>
            <a:chExt cx="2628900" cy="2952900"/>
          </a:xfrm>
        </p:grpSpPr>
        <p:sp>
          <p:nvSpPr>
            <p:cNvPr id="170" name="Google Shape;170;p19"/>
            <p:cNvSpPr/>
            <p:nvPr/>
          </p:nvSpPr>
          <p:spPr>
            <a:xfrm>
              <a:off x="3257550" y="1190625"/>
              <a:ext cx="2628900" cy="2952900"/>
            </a:xfrm>
            <a:prstGeom prst="roundRect">
              <a:avLst>
                <a:gd fmla="val 2898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9"/>
            <p:cNvSpPr txBox="1"/>
            <p:nvPr/>
          </p:nvSpPr>
          <p:spPr>
            <a:xfrm>
              <a:off x="3257550" y="1190625"/>
              <a:ext cx="2628900" cy="295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30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Data Isolation</a:t>
              </a:r>
              <a:endParaRPr b="1" sz="13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i="1" lang="it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Strict isolation designed to prevent leakage across experimental subsets.</a:t>
              </a:r>
              <a:endParaRPr i="1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Inter"/>
                <a:buChar char="●"/>
              </a:pPr>
              <a:r>
                <a:rPr b="1" lang="it" sz="1000">
                  <a:solidFill>
                    <a:srgbClr val="820024"/>
                  </a:solidFill>
                  <a:latin typeface="Inter"/>
                  <a:ea typeface="Inter"/>
                  <a:cs typeface="Inter"/>
                  <a:sym typeface="Inter"/>
                </a:rPr>
                <a:t>Evaluation Split:</a:t>
              </a:r>
              <a:r>
                <a:rPr lang="it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150 images/class (300 total) per target bitrate.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Inter"/>
                <a:buChar char="●"/>
              </a:pPr>
              <a:r>
                <a:rPr b="1" lang="it" sz="1000">
                  <a:solidFill>
                    <a:srgbClr val="820024"/>
                  </a:solidFill>
                  <a:latin typeface="Inter"/>
                  <a:ea typeface="Inter"/>
                  <a:cs typeface="Inter"/>
                  <a:sym typeface="Inter"/>
                </a:rPr>
                <a:t>Fine-Tuning Split:</a:t>
              </a:r>
              <a:r>
                <a:rPr lang="it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100 images/class, carved from a disjoint index range separate from test data.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2" name="Google Shape;172;p19"/>
          <p:cNvGrpSpPr/>
          <p:nvPr/>
        </p:nvGrpSpPr>
        <p:grpSpPr>
          <a:xfrm>
            <a:off x="6115050" y="1190625"/>
            <a:ext cx="2628900" cy="2952900"/>
            <a:chOff x="6115050" y="1190625"/>
            <a:chExt cx="2628900" cy="2952900"/>
          </a:xfrm>
        </p:grpSpPr>
        <p:sp>
          <p:nvSpPr>
            <p:cNvPr id="173" name="Google Shape;173;p19"/>
            <p:cNvSpPr/>
            <p:nvPr/>
          </p:nvSpPr>
          <p:spPr>
            <a:xfrm>
              <a:off x="6115050" y="1190625"/>
              <a:ext cx="2628900" cy="2952900"/>
            </a:xfrm>
            <a:prstGeom prst="roundRect">
              <a:avLst>
                <a:gd fmla="val 2898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9"/>
            <p:cNvSpPr txBox="1"/>
            <p:nvPr/>
          </p:nvSpPr>
          <p:spPr>
            <a:xfrm>
              <a:off x="6115050" y="1190625"/>
              <a:ext cx="2628900" cy="295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30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Infrastructure</a:t>
              </a:r>
              <a:endParaRPr b="1" sz="13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it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Storage &amp; Sync:</a:t>
              </a:r>
              <a:r>
                <a:rPr lang="it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Handled dynamically via cloud integration.</a:t>
              </a:r>
              <a:endParaRPr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b="1" lang="it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Google Drive Mounts:</a:t>
              </a:r>
              <a:r>
                <a:rPr lang="it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Enable seamless execution and consistent environment synchronization across processing nodes.</a:t>
              </a:r>
              <a:endParaRPr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75" name="Google Shape;175;p19"/>
          <p:cNvSpPr txBox="1"/>
          <p:nvPr/>
        </p:nvSpPr>
        <p:spPr>
          <a:xfrm>
            <a:off x="7809952" y="4524375"/>
            <a:ext cx="952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07 / 1</a:t>
            </a:r>
            <a:r>
              <a:rPr lang="it" sz="1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3</a:t>
            </a:r>
            <a:endParaRPr b="0" sz="1000">
              <a:solidFill>
                <a:srgbClr val="94A3B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/>
          <p:nvPr>
            <p:ph type="title"/>
          </p:nvPr>
        </p:nvSpPr>
        <p:spPr>
          <a:xfrm>
            <a:off x="400050" y="333375"/>
            <a:ext cx="7620000" cy="61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3200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Experimental Setup</a:t>
            </a:r>
            <a:endParaRPr b="0" sz="3200">
              <a:solidFill>
                <a:srgbClr val="0F172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181" name="Google Shape;181;p20"/>
          <p:cNvGrpSpPr/>
          <p:nvPr/>
        </p:nvGrpSpPr>
        <p:grpSpPr>
          <a:xfrm>
            <a:off x="242888" y="1262025"/>
            <a:ext cx="2057400" cy="2952900"/>
            <a:chOff x="400050" y="1238250"/>
            <a:chExt cx="2057400" cy="2952900"/>
          </a:xfrm>
        </p:grpSpPr>
        <p:sp>
          <p:nvSpPr>
            <p:cNvPr id="182" name="Google Shape;182;p20"/>
            <p:cNvSpPr/>
            <p:nvPr/>
          </p:nvSpPr>
          <p:spPr>
            <a:xfrm>
              <a:off x="400050" y="1238250"/>
              <a:ext cx="2057400" cy="2952900"/>
            </a:xfrm>
            <a:prstGeom prst="roundRect">
              <a:avLst>
                <a:gd fmla="val 3703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0"/>
            <p:cNvSpPr txBox="1"/>
            <p:nvPr/>
          </p:nvSpPr>
          <p:spPr>
            <a:xfrm>
              <a:off x="400050" y="1238250"/>
              <a:ext cx="20574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2000">
                  <a:solidFill>
                    <a:srgbClr val="820024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01</a:t>
              </a:r>
              <a:endParaRPr b="0" sz="2000">
                <a:solidFill>
                  <a:srgbClr val="82002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it" sz="1150">
                  <a:solidFill>
                    <a:srgbClr val="0F172A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Neural Codec Configuration</a:t>
              </a:r>
              <a:endParaRPr b="0" sz="1150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it" sz="11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Executed using the official JPEG AI reference software under standard profiles (base.json) with secondary tools deactivated (tools_off.json).</a:t>
              </a:r>
              <a:endParaRPr b="0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1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Used 4 bpp: </a:t>
              </a:r>
              <a:r>
                <a:rPr lang="it" sz="1050">
                  <a:solidFill>
                    <a:srgbClr val="475569"/>
                  </a:solidFill>
                  <a:latin typeface="Roboto"/>
                  <a:ea typeface="Roboto"/>
                  <a:cs typeface="Roboto"/>
                  <a:sym typeface="Roboto"/>
                </a:rPr>
                <a:t>(0.12, 0.25, 0.50, 0.75)</a:t>
              </a:r>
              <a:r>
                <a:rPr lang="it" sz="1100">
                  <a:solidFill>
                    <a:srgbClr val="475569"/>
                  </a:solidFill>
                </a:rPr>
                <a:t> </a:t>
              </a:r>
              <a:endParaRPr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4" name="Google Shape;184;p20"/>
          <p:cNvGrpSpPr/>
          <p:nvPr/>
        </p:nvGrpSpPr>
        <p:grpSpPr>
          <a:xfrm>
            <a:off x="2443163" y="1262025"/>
            <a:ext cx="2057400" cy="2952900"/>
            <a:chOff x="2600325" y="1238250"/>
            <a:chExt cx="2057400" cy="2952900"/>
          </a:xfrm>
        </p:grpSpPr>
        <p:sp>
          <p:nvSpPr>
            <p:cNvPr id="185" name="Google Shape;185;p20"/>
            <p:cNvSpPr/>
            <p:nvPr/>
          </p:nvSpPr>
          <p:spPr>
            <a:xfrm>
              <a:off x="2600325" y="1238250"/>
              <a:ext cx="2057400" cy="2952900"/>
            </a:xfrm>
            <a:prstGeom prst="roundRect">
              <a:avLst>
                <a:gd fmla="val 3703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0"/>
            <p:cNvSpPr txBox="1"/>
            <p:nvPr/>
          </p:nvSpPr>
          <p:spPr>
            <a:xfrm>
              <a:off x="2600325" y="1238250"/>
              <a:ext cx="20574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2000">
                  <a:solidFill>
                    <a:srgbClr val="820024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02</a:t>
              </a:r>
              <a:endParaRPr b="0" sz="2000">
                <a:solidFill>
                  <a:srgbClr val="82002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it" sz="1150">
                  <a:solidFill>
                    <a:srgbClr val="0F172A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Crucial Preprocessing</a:t>
              </a:r>
              <a:endParaRPr b="0" sz="1150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it" sz="11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Enforced strict deterministic </a:t>
              </a:r>
              <a:r>
                <a:rPr b="1" lang="it" sz="11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CenterCrop(224)</a:t>
              </a:r>
              <a:r>
                <a:rPr b="0" lang="it" sz="11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with </a:t>
              </a:r>
              <a:r>
                <a:rPr b="1" lang="it" sz="11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no resizing</a:t>
              </a:r>
              <a:r>
                <a:rPr b="0" lang="it" sz="11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 This preserves the raw spatial layout and micro-pixel structures required for artifact verification.</a:t>
              </a:r>
              <a:endParaRPr b="0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7" name="Google Shape;187;p20"/>
          <p:cNvGrpSpPr/>
          <p:nvPr/>
        </p:nvGrpSpPr>
        <p:grpSpPr>
          <a:xfrm>
            <a:off x="4643438" y="1262025"/>
            <a:ext cx="2057400" cy="2952900"/>
            <a:chOff x="4800600" y="1238250"/>
            <a:chExt cx="2057400" cy="2952900"/>
          </a:xfrm>
        </p:grpSpPr>
        <p:sp>
          <p:nvSpPr>
            <p:cNvPr id="188" name="Google Shape;188;p20"/>
            <p:cNvSpPr/>
            <p:nvPr/>
          </p:nvSpPr>
          <p:spPr>
            <a:xfrm>
              <a:off x="4800600" y="1238250"/>
              <a:ext cx="2057400" cy="2952900"/>
            </a:xfrm>
            <a:prstGeom prst="roundRect">
              <a:avLst>
                <a:gd fmla="val 3703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0"/>
            <p:cNvSpPr txBox="1"/>
            <p:nvPr/>
          </p:nvSpPr>
          <p:spPr>
            <a:xfrm>
              <a:off x="4800600" y="1238250"/>
              <a:ext cx="20574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2000">
                  <a:solidFill>
                    <a:srgbClr val="820024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03</a:t>
              </a:r>
              <a:endParaRPr b="0" sz="2000">
                <a:solidFill>
                  <a:srgbClr val="82002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it" sz="1150">
                  <a:solidFill>
                    <a:srgbClr val="0F172A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Optimization Settings</a:t>
              </a:r>
              <a:endParaRPr b="0" sz="1150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it" sz="11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Retrained across 8 full epochs, utilizing a conservative Learning Rate of 5e-5 paired with the Adam optimizer.</a:t>
              </a:r>
              <a:endParaRPr b="0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0" name="Google Shape;190;p20"/>
          <p:cNvGrpSpPr/>
          <p:nvPr/>
        </p:nvGrpSpPr>
        <p:grpSpPr>
          <a:xfrm>
            <a:off x="6843713" y="1262025"/>
            <a:ext cx="2057400" cy="2952900"/>
            <a:chOff x="7000875" y="1238250"/>
            <a:chExt cx="2057400" cy="2952900"/>
          </a:xfrm>
        </p:grpSpPr>
        <p:sp>
          <p:nvSpPr>
            <p:cNvPr id="191" name="Google Shape;191;p20"/>
            <p:cNvSpPr/>
            <p:nvPr/>
          </p:nvSpPr>
          <p:spPr>
            <a:xfrm>
              <a:off x="7000875" y="1238250"/>
              <a:ext cx="2057400" cy="2952900"/>
            </a:xfrm>
            <a:prstGeom prst="roundRect">
              <a:avLst>
                <a:gd fmla="val 3703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0"/>
            <p:cNvSpPr txBox="1"/>
            <p:nvPr/>
          </p:nvSpPr>
          <p:spPr>
            <a:xfrm>
              <a:off x="7000875" y="1238250"/>
              <a:ext cx="20574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2000">
                  <a:solidFill>
                    <a:srgbClr val="820024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04</a:t>
              </a:r>
              <a:endParaRPr b="0" sz="2000">
                <a:solidFill>
                  <a:srgbClr val="82002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it" sz="1150">
                  <a:solidFill>
                    <a:srgbClr val="0F172A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Multi-Expert Architecture</a:t>
              </a:r>
              <a:endParaRPr b="0" sz="1150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it" sz="11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Formulated two specialized models: a </a:t>
              </a:r>
              <a:r>
                <a:rPr b="1" lang="it" sz="11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Low-Bitrate Expert </a:t>
              </a:r>
              <a:r>
                <a:rPr b="0" lang="it" sz="11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(optimized for bpp 0.12–0.25) and a </a:t>
              </a:r>
              <a:r>
                <a:rPr b="1" lang="it" sz="11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High-Bitrate Expert</a:t>
              </a:r>
              <a:r>
                <a:rPr b="0" lang="it" sz="11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(optimized for bpp 0.50–0.75).</a:t>
              </a:r>
              <a:endParaRPr b="0" sz="11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93" name="Google Shape;193;p20"/>
          <p:cNvSpPr txBox="1"/>
          <p:nvPr/>
        </p:nvSpPr>
        <p:spPr>
          <a:xfrm>
            <a:off x="7791450" y="4524375"/>
            <a:ext cx="952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08 / 1</a:t>
            </a:r>
            <a:r>
              <a:rPr lang="it" sz="1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3</a:t>
            </a:r>
            <a:endParaRPr b="0" sz="1000">
              <a:solidFill>
                <a:srgbClr val="94A3B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"/>
          <p:cNvSpPr txBox="1"/>
          <p:nvPr/>
        </p:nvSpPr>
        <p:spPr>
          <a:xfrm>
            <a:off x="400050" y="333375"/>
            <a:ext cx="7620000" cy="61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800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Baseline </a:t>
            </a:r>
            <a:r>
              <a:rPr b="0" lang="it" sz="2800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Evaluation</a:t>
            </a:r>
            <a:endParaRPr b="0" sz="2800">
              <a:solidFill>
                <a:srgbClr val="0F172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400050" y="1095375"/>
            <a:ext cx="3048000" cy="3429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1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 Observations</a:t>
            </a:r>
            <a:endParaRPr b="0" sz="1100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1050">
                <a:solidFill>
                  <a:srgbClr val="820024"/>
                </a:solidFill>
                <a:latin typeface="Inter"/>
                <a:ea typeface="Inter"/>
                <a:cs typeface="Inter"/>
                <a:sym typeface="Inter"/>
              </a:rPr>
              <a:t>Perfect Baseline:</a:t>
            </a:r>
            <a:r>
              <a:rPr lang="it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On uncompressed original images, the detector achieves perfect classification with </a:t>
            </a:r>
            <a:r>
              <a:rPr b="1" lang="it" sz="10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AUC = 1.000</a:t>
            </a:r>
            <a:r>
              <a:rPr lang="it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1" lang="it" sz="10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Accuracy = 1.000</a:t>
            </a:r>
            <a:r>
              <a:rPr lang="it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0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it" sz="1050">
                <a:solidFill>
                  <a:srgbClr val="820024"/>
                </a:solidFill>
                <a:latin typeface="Inter"/>
                <a:ea typeface="Inter"/>
                <a:cs typeface="Inter"/>
                <a:sym typeface="Inter"/>
              </a:rPr>
              <a:t>Severe Degradation:</a:t>
            </a:r>
            <a:r>
              <a:rPr lang="it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Increasing neural compression strength causes a </a:t>
            </a:r>
            <a:r>
              <a:rPr b="1" lang="it" sz="10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monotonic, severe performance drop</a:t>
            </a:r>
            <a:r>
              <a:rPr lang="it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across all metrics.</a:t>
            </a:r>
            <a:endParaRPr sz="10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it" sz="1050">
                <a:solidFill>
                  <a:srgbClr val="820024"/>
                </a:solidFill>
                <a:latin typeface="Inter"/>
                <a:ea typeface="Inter"/>
                <a:cs typeface="Inter"/>
                <a:sym typeface="Inter"/>
              </a:rPr>
              <a:t>Critical Failure Point:</a:t>
            </a:r>
            <a:r>
              <a:rPr lang="it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At maximum compression (</a:t>
            </a:r>
            <a:r>
              <a:rPr b="1" lang="it" sz="10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bpp 0.12</a:t>
            </a:r>
            <a:r>
              <a:rPr lang="it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), performance drops sharply: AUC falls to </a:t>
            </a:r>
            <a:r>
              <a:rPr b="1" lang="it" sz="10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0.781</a:t>
            </a:r>
            <a:r>
              <a:rPr lang="it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and Accuracy plummets to </a:t>
            </a:r>
            <a:r>
              <a:rPr b="1" lang="it" sz="10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68.3%</a:t>
            </a:r>
            <a:r>
              <a:rPr lang="it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0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it" sz="1050">
                <a:solidFill>
                  <a:srgbClr val="820024"/>
                </a:solidFill>
                <a:latin typeface="Inter"/>
                <a:ea typeface="Inter"/>
                <a:cs typeface="Inter"/>
                <a:sym typeface="Inter"/>
              </a:rPr>
              <a:t>Forensic Failure:</a:t>
            </a:r>
            <a:r>
              <a:rPr lang="it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The False Positive Rate leaps to </a:t>
            </a:r>
            <a:r>
              <a:rPr b="1" lang="it" sz="10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0.480</a:t>
            </a:r>
            <a:r>
              <a:rPr lang="it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misclassifying nearly half of the genuine images as fakes due to neural artifacts.</a:t>
            </a:r>
            <a:endParaRPr sz="10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3638550" y="1095375"/>
            <a:ext cx="5105400" cy="1619100"/>
          </a:xfrm>
          <a:prstGeom prst="roundRect">
            <a:avLst>
              <a:gd fmla="val 4705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01" name="Google Shape;201;p21"/>
          <p:cNvGraphicFramePr/>
          <p:nvPr/>
        </p:nvGraphicFramePr>
        <p:xfrm>
          <a:off x="3790950" y="1190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{5ADBA9CB-3E88-4619-A71E-292D7983E240}</a:tableStyleId>
              </a:tblPr>
              <a:tblGrid>
                <a:gridCol w="667425"/>
                <a:gridCol w="532725"/>
                <a:gridCol w="600075"/>
                <a:gridCol w="600075"/>
                <a:gridCol w="600075"/>
                <a:gridCol w="600075"/>
                <a:gridCol w="600075"/>
                <a:gridCol w="600075"/>
              </a:tblGrid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CONDITION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AUC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FPR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FNR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F1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50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original</a:t>
                      </a:r>
                      <a:endParaRPr b="0" sz="850">
                        <a:solidFill>
                          <a:srgbClr val="0F172A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endParaRPr>
                    </a:p>
                  </a:txBody>
                  <a:tcPr marT="28575" marB="28575" marR="19050" marL="19050"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1.000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1.000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1.000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0.000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0.000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1.000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300</a:t>
                      </a:r>
                      <a:endParaRPr sz="850">
                        <a:solidFill>
                          <a:srgbClr val="94A3B8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50">
                          <a:solidFill>
                            <a:srgbClr val="820024"/>
                          </a:solidFill>
                          <a:highlight>
                            <a:srgbClr val="FFF1F2"/>
                          </a:highlight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bpp 0.12</a:t>
                      </a:r>
                      <a:endParaRPr b="0" sz="850">
                        <a:solidFill>
                          <a:srgbClr val="820024"/>
                        </a:solidFill>
                        <a:highlight>
                          <a:srgbClr val="FFF1F2"/>
                        </a:highlight>
                        <a:latin typeface="Inter SemiBold"/>
                        <a:ea typeface="Inter SemiBold"/>
                        <a:cs typeface="Inter SemiBold"/>
                        <a:sym typeface="Inter SemiBold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50">
                          <a:solidFill>
                            <a:srgbClr val="820024"/>
                          </a:solidFill>
                          <a:highlight>
                            <a:srgbClr val="FFF1F2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0.707</a:t>
                      </a:r>
                      <a:endParaRPr b="1" sz="850">
                        <a:solidFill>
                          <a:srgbClr val="820024"/>
                        </a:solidFill>
                        <a:highlight>
                          <a:srgbClr val="FFF1F2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highlight>
                            <a:srgbClr val="FFF1F2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0.667</a:t>
                      </a:r>
                      <a:endParaRPr sz="850">
                        <a:solidFill>
                          <a:srgbClr val="475569"/>
                        </a:solidFill>
                        <a:highlight>
                          <a:srgbClr val="FFF1F2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50">
                          <a:solidFill>
                            <a:srgbClr val="820024"/>
                          </a:solidFill>
                          <a:highlight>
                            <a:srgbClr val="FFF1F2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0.577</a:t>
                      </a:r>
                      <a:endParaRPr b="1" sz="850">
                        <a:solidFill>
                          <a:srgbClr val="820024"/>
                        </a:solidFill>
                        <a:highlight>
                          <a:srgbClr val="FFF1F2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50">
                          <a:solidFill>
                            <a:srgbClr val="820024"/>
                          </a:solidFill>
                          <a:highlight>
                            <a:srgbClr val="FFF1F2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0.787</a:t>
                      </a:r>
                      <a:endParaRPr b="1" sz="850">
                        <a:solidFill>
                          <a:srgbClr val="820024"/>
                        </a:solidFill>
                        <a:highlight>
                          <a:srgbClr val="FFF1F2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highlight>
                            <a:srgbClr val="FFF1F2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0.060</a:t>
                      </a:r>
                      <a:endParaRPr sz="850">
                        <a:solidFill>
                          <a:srgbClr val="475569"/>
                        </a:solidFill>
                        <a:highlight>
                          <a:srgbClr val="FFF1F2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highlight>
                            <a:srgbClr val="FFF1F2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0.689</a:t>
                      </a:r>
                      <a:endParaRPr sz="850">
                        <a:solidFill>
                          <a:srgbClr val="475569"/>
                        </a:solidFill>
                        <a:highlight>
                          <a:srgbClr val="FFF1F2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300</a:t>
                      </a:r>
                      <a:endParaRPr sz="850">
                        <a:solidFill>
                          <a:srgbClr val="94A3B8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50">
                          <a:solidFill>
                            <a:srgbClr val="47556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bpp 0.25</a:t>
                      </a:r>
                      <a:endParaRPr b="0" sz="850">
                        <a:solidFill>
                          <a:srgbClr val="475569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0.873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0.851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0.683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0.607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0.027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0.755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300</a:t>
                      </a:r>
                      <a:endParaRPr sz="850">
                        <a:solidFill>
                          <a:srgbClr val="94A3B8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50">
                          <a:solidFill>
                            <a:srgbClr val="47556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bpp 0.50</a:t>
                      </a:r>
                      <a:endParaRPr b="0" sz="850">
                        <a:solidFill>
                          <a:srgbClr val="475569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0.976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0.980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0.853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0.267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0.027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0.869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300</a:t>
                      </a:r>
                      <a:endParaRPr sz="850">
                        <a:solidFill>
                          <a:srgbClr val="94A3B8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50">
                          <a:solidFill>
                            <a:srgbClr val="47556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bpp 0.75</a:t>
                      </a:r>
                      <a:endParaRPr b="0" sz="850">
                        <a:solidFill>
                          <a:srgbClr val="475569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0.991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0.992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0.940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0.093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0.027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0.942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300</a:t>
                      </a:r>
                      <a:endParaRPr sz="850">
                        <a:solidFill>
                          <a:srgbClr val="94A3B8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202" name="Google Shape;202;p21"/>
          <p:cNvSpPr/>
          <p:nvPr/>
        </p:nvSpPr>
        <p:spPr>
          <a:xfrm>
            <a:off x="3638550" y="2905125"/>
            <a:ext cx="5105400" cy="1619100"/>
          </a:xfrm>
          <a:prstGeom prst="roundRect">
            <a:avLst>
              <a:gd fmla="val 4705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03" name="Google Shape;203;p21"/>
          <p:cNvGraphicFramePr/>
          <p:nvPr/>
        </p:nvGraphicFramePr>
        <p:xfrm>
          <a:off x="3790950" y="3000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{5ADBA9CB-3E88-4619-A71E-292D7983E240}</a:tableStyleId>
              </a:tblPr>
              <a:tblGrid>
                <a:gridCol w="667425"/>
                <a:gridCol w="532725"/>
                <a:gridCol w="600075"/>
                <a:gridCol w="600075"/>
                <a:gridCol w="600075"/>
                <a:gridCol w="600075"/>
                <a:gridCol w="600075"/>
                <a:gridCol w="600075"/>
              </a:tblGrid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CONDITION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AUC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FPR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FNR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F1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50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original</a:t>
                      </a:r>
                      <a:endParaRPr b="0" sz="850">
                        <a:solidFill>
                          <a:srgbClr val="0F172A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endParaRPr>
                    </a:p>
                  </a:txBody>
                  <a:tcPr marT="28575" marB="28575" marR="19050" marL="19050"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1.000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1.000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1.000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0.000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0.000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1.000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300</a:t>
                      </a:r>
                      <a:endParaRPr sz="850">
                        <a:solidFill>
                          <a:srgbClr val="94A3B8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50">
                          <a:solidFill>
                            <a:srgbClr val="820024"/>
                          </a:solidFill>
                          <a:highlight>
                            <a:srgbClr val="FFF1F2"/>
                          </a:highlight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bpp 0.12</a:t>
                      </a:r>
                      <a:endParaRPr b="0" sz="850">
                        <a:solidFill>
                          <a:srgbClr val="820024"/>
                        </a:solidFill>
                        <a:highlight>
                          <a:srgbClr val="FFF1F2"/>
                        </a:highlight>
                        <a:latin typeface="Inter SemiBold"/>
                        <a:ea typeface="Inter SemiBold"/>
                        <a:cs typeface="Inter SemiBold"/>
                        <a:sym typeface="Inter SemiBold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50">
                          <a:solidFill>
                            <a:srgbClr val="820024"/>
                          </a:solidFill>
                          <a:highlight>
                            <a:srgbClr val="FFF1F2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0.781</a:t>
                      </a:r>
                      <a:endParaRPr b="1" sz="850">
                        <a:solidFill>
                          <a:srgbClr val="820024"/>
                        </a:solidFill>
                        <a:highlight>
                          <a:srgbClr val="FFF1F2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highlight>
                            <a:srgbClr val="FFF1F2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0.753</a:t>
                      </a:r>
                      <a:endParaRPr sz="850">
                        <a:solidFill>
                          <a:srgbClr val="475569"/>
                        </a:solidFill>
                        <a:highlight>
                          <a:srgbClr val="FFF1F2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50">
                          <a:solidFill>
                            <a:srgbClr val="820024"/>
                          </a:solidFill>
                          <a:highlight>
                            <a:srgbClr val="FFF1F2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0.683</a:t>
                      </a:r>
                      <a:endParaRPr b="1" sz="850">
                        <a:solidFill>
                          <a:srgbClr val="820024"/>
                        </a:solidFill>
                        <a:highlight>
                          <a:srgbClr val="FFF1F2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850">
                          <a:solidFill>
                            <a:srgbClr val="820024"/>
                          </a:solidFill>
                          <a:highlight>
                            <a:srgbClr val="FFF1F2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0.480</a:t>
                      </a:r>
                      <a:endParaRPr b="1" sz="850">
                        <a:solidFill>
                          <a:srgbClr val="820024"/>
                        </a:solidFill>
                        <a:highlight>
                          <a:srgbClr val="FFF1F2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highlight>
                            <a:srgbClr val="FFF1F2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0.153</a:t>
                      </a:r>
                      <a:endParaRPr sz="850">
                        <a:solidFill>
                          <a:srgbClr val="475569"/>
                        </a:solidFill>
                        <a:highlight>
                          <a:srgbClr val="FFF1F2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highlight>
                            <a:srgbClr val="FFF1F2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0.728</a:t>
                      </a:r>
                      <a:endParaRPr sz="850">
                        <a:solidFill>
                          <a:srgbClr val="475569"/>
                        </a:solidFill>
                        <a:highlight>
                          <a:srgbClr val="FFF1F2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300</a:t>
                      </a:r>
                      <a:endParaRPr sz="850">
                        <a:solidFill>
                          <a:srgbClr val="94A3B8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50">
                          <a:solidFill>
                            <a:srgbClr val="47556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bpp 0.25</a:t>
                      </a:r>
                      <a:endParaRPr b="0" sz="850">
                        <a:solidFill>
                          <a:srgbClr val="475569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0.944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0.944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0.860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0.233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0.047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0.872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300</a:t>
                      </a:r>
                      <a:endParaRPr sz="850">
                        <a:solidFill>
                          <a:srgbClr val="94A3B8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50">
                          <a:solidFill>
                            <a:srgbClr val="47556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bpp 0.50</a:t>
                      </a:r>
                      <a:endParaRPr b="0" sz="850">
                        <a:solidFill>
                          <a:srgbClr val="475569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0.996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0.997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0.960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0.060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0.020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0.961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300</a:t>
                      </a:r>
                      <a:endParaRPr sz="850">
                        <a:solidFill>
                          <a:srgbClr val="94A3B8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it" sz="850">
                          <a:solidFill>
                            <a:srgbClr val="475569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bpp 0.75</a:t>
                      </a:r>
                      <a:endParaRPr b="0" sz="850">
                        <a:solidFill>
                          <a:srgbClr val="475569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0.999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0.999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0.977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0.020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0.027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0.977</a:t>
                      </a:r>
                      <a:endParaRPr sz="85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850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300</a:t>
                      </a:r>
                      <a:endParaRPr sz="850">
                        <a:solidFill>
                          <a:srgbClr val="94A3B8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8575" marB="28575" marR="19050" marL="1905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204" name="Google Shape;204;p21"/>
          <p:cNvSpPr txBox="1"/>
          <p:nvPr/>
        </p:nvSpPr>
        <p:spPr>
          <a:xfrm>
            <a:off x="7791450" y="4524375"/>
            <a:ext cx="952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09 / 1</a:t>
            </a:r>
            <a:r>
              <a:rPr lang="it" sz="1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3</a:t>
            </a:r>
            <a:endParaRPr b="0" sz="1000">
              <a:solidFill>
                <a:srgbClr val="94A3B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3681550" y="2642513"/>
            <a:ext cx="1646100" cy="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it" sz="1050">
                <a:solidFill>
                  <a:srgbClr val="8200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prob0.5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3227000" y="824000"/>
            <a:ext cx="1150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it" sz="1050">
                <a:solidFill>
                  <a:srgbClr val="8200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prob0.1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"/>
          <p:cNvSpPr txBox="1"/>
          <p:nvPr/>
        </p:nvSpPr>
        <p:spPr>
          <a:xfrm>
            <a:off x="400050" y="333375"/>
            <a:ext cx="7620000" cy="61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2590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Evaluation: Mitigation Benchmarks</a:t>
            </a:r>
            <a:endParaRPr b="0" sz="2590">
              <a:solidFill>
                <a:srgbClr val="0F172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212" name="Google Shape;212;p22"/>
          <p:cNvGrpSpPr/>
          <p:nvPr/>
        </p:nvGrpSpPr>
        <p:grpSpPr>
          <a:xfrm>
            <a:off x="6153150" y="1190625"/>
            <a:ext cx="2590800" cy="2381400"/>
            <a:chOff x="400050" y="1190625"/>
            <a:chExt cx="2590800" cy="2381400"/>
          </a:xfrm>
        </p:grpSpPr>
        <p:sp>
          <p:nvSpPr>
            <p:cNvPr id="213" name="Google Shape;213;p22"/>
            <p:cNvSpPr/>
            <p:nvPr/>
          </p:nvSpPr>
          <p:spPr>
            <a:xfrm>
              <a:off x="400050" y="1190625"/>
              <a:ext cx="2590800" cy="2381400"/>
            </a:xfrm>
            <a:prstGeom prst="roundRect">
              <a:avLst>
                <a:gd fmla="val 32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2"/>
            <p:cNvSpPr txBox="1"/>
            <p:nvPr/>
          </p:nvSpPr>
          <p:spPr>
            <a:xfrm>
              <a:off x="400050" y="1190625"/>
              <a:ext cx="2590800" cy="2381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it" sz="130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Test-Time Sharpening</a:t>
              </a:r>
              <a:endParaRPr b="1" sz="13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82002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it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Preprocessing images via Unsharp Masking actively worsens detection, reducing AUC further down to </a:t>
              </a:r>
              <a:r>
                <a:rPr b="1" lang="it" sz="1200">
                  <a:solidFill>
                    <a:srgbClr val="820024"/>
                  </a:solidFill>
                  <a:latin typeface="Inter"/>
                  <a:ea typeface="Inter"/>
                  <a:cs typeface="Inter"/>
                  <a:sym typeface="Inter"/>
                </a:rPr>
                <a:t>0.742</a:t>
              </a:r>
              <a:r>
                <a:rPr b="0" lang="it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 Naive high-frequency contrast enhancement cannot restore structural features deleted by neural models.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5" name="Google Shape;215;p22"/>
          <p:cNvGrpSpPr/>
          <p:nvPr/>
        </p:nvGrpSpPr>
        <p:grpSpPr>
          <a:xfrm>
            <a:off x="3276600" y="1190625"/>
            <a:ext cx="2590800" cy="2381400"/>
            <a:chOff x="6153150" y="1190625"/>
            <a:chExt cx="2590800" cy="2381400"/>
          </a:xfrm>
        </p:grpSpPr>
        <p:sp>
          <p:nvSpPr>
            <p:cNvPr id="216" name="Google Shape;216;p22"/>
            <p:cNvSpPr/>
            <p:nvPr/>
          </p:nvSpPr>
          <p:spPr>
            <a:xfrm>
              <a:off x="6153150" y="1190625"/>
              <a:ext cx="2590800" cy="2381400"/>
            </a:xfrm>
            <a:prstGeom prst="roundRect">
              <a:avLst>
                <a:gd fmla="val 32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2"/>
            <p:cNvSpPr txBox="1"/>
            <p:nvPr/>
          </p:nvSpPr>
          <p:spPr>
            <a:xfrm>
              <a:off x="6153150" y="1190625"/>
              <a:ext cx="2590800" cy="2381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30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Fine-Tuning: </a:t>
              </a:r>
              <a:endParaRPr b="1" sz="13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it" sz="130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Consistency</a:t>
              </a:r>
              <a:endParaRPr b="1" sz="13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47556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it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Delivers solid, balanced recovery (</a:t>
              </a:r>
              <a:r>
                <a:rPr b="1" lang="it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AUC = 0.864</a:t>
              </a:r>
              <a:r>
                <a:rPr b="0" lang="it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b="1" lang="it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Acc = 76.0%</a:t>
              </a:r>
              <a:r>
                <a:rPr b="0" lang="it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) while achieving the lowest overall false alarm rate with an </a:t>
              </a:r>
              <a:r>
                <a:rPr b="1" lang="it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FPR of 0.320</a:t>
              </a:r>
              <a:r>
                <a:rPr b="0" lang="it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8" name="Google Shape;218;p22"/>
          <p:cNvGrpSpPr/>
          <p:nvPr/>
        </p:nvGrpSpPr>
        <p:grpSpPr>
          <a:xfrm>
            <a:off x="400050" y="3714750"/>
            <a:ext cx="8343900" cy="666900"/>
            <a:chOff x="400050" y="3714750"/>
            <a:chExt cx="8343900" cy="666900"/>
          </a:xfrm>
        </p:grpSpPr>
        <p:sp>
          <p:nvSpPr>
            <p:cNvPr id="219" name="Google Shape;219;p22"/>
            <p:cNvSpPr/>
            <p:nvPr/>
          </p:nvSpPr>
          <p:spPr>
            <a:xfrm>
              <a:off x="400050" y="3714750"/>
              <a:ext cx="8343900" cy="666900"/>
            </a:xfrm>
            <a:prstGeom prst="roundRect">
              <a:avLst>
                <a:gd fmla="val 11428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2"/>
            <p:cNvSpPr txBox="1"/>
            <p:nvPr/>
          </p:nvSpPr>
          <p:spPr>
            <a:xfrm>
              <a:off x="400050" y="3714750"/>
              <a:ext cx="83439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1200">
                  <a:solidFill>
                    <a:srgbClr val="0F172A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High-Bitrate Convergence:</a:t>
              </a:r>
              <a:r>
                <a:rPr b="0" lang="it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At high bitrates (bpp ≥ 0.50), where the original baseline is already strong, both training frameworks smoothly converge to near-perfection (</a:t>
              </a:r>
              <a:r>
                <a:rPr b="1" lang="it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AUC ≥ 0.999</a:t>
              </a:r>
              <a:r>
                <a:rPr b="0" lang="it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).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21" name="Google Shape;221;p22"/>
          <p:cNvSpPr txBox="1"/>
          <p:nvPr/>
        </p:nvSpPr>
        <p:spPr>
          <a:xfrm>
            <a:off x="7791450" y="4524375"/>
            <a:ext cx="952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10 / 1</a:t>
            </a:r>
            <a:r>
              <a:rPr lang="it" sz="1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3</a:t>
            </a:r>
            <a:endParaRPr b="0" sz="1000">
              <a:solidFill>
                <a:srgbClr val="94A3B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222" name="Google Shape;222;p22"/>
          <p:cNvGrpSpPr/>
          <p:nvPr/>
        </p:nvGrpSpPr>
        <p:grpSpPr>
          <a:xfrm>
            <a:off x="400050" y="1190625"/>
            <a:ext cx="2590800" cy="2381400"/>
            <a:chOff x="3276600" y="1190625"/>
            <a:chExt cx="2590800" cy="2381400"/>
          </a:xfrm>
        </p:grpSpPr>
        <p:sp>
          <p:nvSpPr>
            <p:cNvPr id="223" name="Google Shape;223;p22"/>
            <p:cNvSpPr/>
            <p:nvPr/>
          </p:nvSpPr>
          <p:spPr>
            <a:xfrm>
              <a:off x="3276600" y="1190625"/>
              <a:ext cx="2590800" cy="2381400"/>
            </a:xfrm>
            <a:prstGeom prst="roundRect">
              <a:avLst>
                <a:gd fmla="val 32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2"/>
            <p:cNvSpPr txBox="1"/>
            <p:nvPr/>
          </p:nvSpPr>
          <p:spPr>
            <a:xfrm>
              <a:off x="3276600" y="1190625"/>
              <a:ext cx="2590800" cy="2381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30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Fine-Tuning: Augmentation</a:t>
              </a:r>
              <a:endParaRPr sz="1350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Effectively reclaims robustness at the critical bpp 0.12 boundary, boosting </a:t>
              </a:r>
              <a:r>
                <a:rPr b="1" lang="it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AUC back to 0.875</a:t>
              </a:r>
              <a:r>
                <a:rPr b="0" lang="it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and </a:t>
              </a:r>
              <a:r>
                <a:rPr b="1" lang="it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Accuracy to 76.3%</a:t>
              </a:r>
              <a:r>
                <a:rPr b="0" lang="it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while forcing FPR down to 0.340.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3"/>
          <p:cNvSpPr txBox="1"/>
          <p:nvPr/>
        </p:nvSpPr>
        <p:spPr>
          <a:xfrm>
            <a:off x="140300" y="71525"/>
            <a:ext cx="8646900" cy="4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2590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Evaluation: Mitigation Benchmarks B</a:t>
            </a:r>
            <a:endParaRPr sz="2590">
              <a:solidFill>
                <a:srgbClr val="0F172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30" name="Google Shape;230;p23" title="image-1783374961434.png"/>
          <p:cNvPicPr preferRelativeResize="0"/>
          <p:nvPr/>
        </p:nvPicPr>
        <p:blipFill rotWithShape="1">
          <a:blip r:embed="rId3">
            <a:alphaModFix/>
          </a:blip>
          <a:srcRect b="0" l="949" r="1204" t="0"/>
          <a:stretch/>
        </p:blipFill>
        <p:spPr>
          <a:xfrm>
            <a:off x="0" y="661150"/>
            <a:ext cx="9144003" cy="33401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1" name="Google Shape;231;p23"/>
          <p:cNvGrpSpPr/>
          <p:nvPr/>
        </p:nvGrpSpPr>
        <p:grpSpPr>
          <a:xfrm>
            <a:off x="400050" y="4001275"/>
            <a:ext cx="8343900" cy="571500"/>
            <a:chOff x="400050" y="4191000"/>
            <a:chExt cx="8343900" cy="571500"/>
          </a:xfrm>
        </p:grpSpPr>
        <p:sp>
          <p:nvSpPr>
            <p:cNvPr id="232" name="Google Shape;232;p23"/>
            <p:cNvSpPr/>
            <p:nvPr/>
          </p:nvSpPr>
          <p:spPr>
            <a:xfrm>
              <a:off x="400050" y="4191000"/>
              <a:ext cx="8343900" cy="571500"/>
            </a:xfrm>
            <a:prstGeom prst="roundRect">
              <a:avLst>
                <a:gd fmla="val 100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3"/>
            <p:cNvSpPr/>
            <p:nvPr/>
          </p:nvSpPr>
          <p:spPr>
            <a:xfrm>
              <a:off x="400050" y="4191000"/>
              <a:ext cx="38100" cy="571500"/>
            </a:xfrm>
            <a:prstGeom prst="roundRect">
              <a:avLst>
                <a:gd fmla="val 50000" name="adj"/>
              </a:avLst>
            </a:prstGeom>
            <a:solidFill>
              <a:srgbClr val="8200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3"/>
            <p:cNvSpPr txBox="1"/>
            <p:nvPr/>
          </p:nvSpPr>
          <p:spPr>
            <a:xfrm>
              <a:off x="552450" y="4191000"/>
              <a:ext cx="8001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5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Notice that for fine-tuning detectors we reported </a:t>
              </a:r>
              <a:r>
                <a:rPr b="1" lang="it" sz="95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only</a:t>
              </a:r>
              <a:r>
                <a:rPr b="1" lang="it" sz="95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results of “low” type (Augmentation: [0.12, 0.25]), that are more effective than “high” </a:t>
              </a:r>
              <a:r>
                <a:rPr b="1" lang="it" sz="95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(Augmentation: [0.50, 0.75])</a:t>
              </a:r>
              <a:r>
                <a:rPr b="1" lang="it" sz="95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35" name="Google Shape;235;p23"/>
          <p:cNvSpPr txBox="1"/>
          <p:nvPr/>
        </p:nvSpPr>
        <p:spPr>
          <a:xfrm>
            <a:off x="7834700" y="4700350"/>
            <a:ext cx="952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1</a:t>
            </a:r>
            <a:r>
              <a:rPr lang="it" sz="1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1</a:t>
            </a:r>
            <a:r>
              <a:rPr b="0" lang="it" sz="1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 / 1</a:t>
            </a:r>
            <a:r>
              <a:rPr lang="it" sz="1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3</a:t>
            </a:r>
            <a:endParaRPr b="0" sz="1000">
              <a:solidFill>
                <a:srgbClr val="94A3B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4"/>
          <p:cNvSpPr txBox="1"/>
          <p:nvPr/>
        </p:nvSpPr>
        <p:spPr>
          <a:xfrm>
            <a:off x="400050" y="333375"/>
            <a:ext cx="7620000" cy="61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3200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Conclusions &amp; Future Work</a:t>
            </a:r>
            <a:endParaRPr b="0" sz="3200">
              <a:solidFill>
                <a:srgbClr val="0F172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241" name="Google Shape;241;p24"/>
          <p:cNvGrpSpPr/>
          <p:nvPr/>
        </p:nvGrpSpPr>
        <p:grpSpPr>
          <a:xfrm>
            <a:off x="400050" y="1190625"/>
            <a:ext cx="3981600" cy="3048000"/>
            <a:chOff x="400050" y="1190625"/>
            <a:chExt cx="3981600" cy="3048000"/>
          </a:xfrm>
        </p:grpSpPr>
        <p:sp>
          <p:nvSpPr>
            <p:cNvPr id="242" name="Google Shape;242;p24"/>
            <p:cNvSpPr/>
            <p:nvPr/>
          </p:nvSpPr>
          <p:spPr>
            <a:xfrm>
              <a:off x="400050" y="1190625"/>
              <a:ext cx="3981600" cy="3048000"/>
            </a:xfrm>
            <a:prstGeom prst="roundRect">
              <a:avLst>
                <a:gd fmla="val 25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4"/>
            <p:cNvSpPr txBox="1"/>
            <p:nvPr/>
          </p:nvSpPr>
          <p:spPr>
            <a:xfrm>
              <a:off x="400050" y="1190625"/>
              <a:ext cx="39816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400">
                  <a:solidFill>
                    <a:srgbClr val="82002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Conclusions</a:t>
              </a:r>
              <a:endParaRPr b="1" sz="1400">
                <a:solidFill>
                  <a:srgbClr val="82002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it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JPEG AI Threat:</a:t>
              </a:r>
              <a:r>
                <a:rPr b="0" lang="it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Compression poses a severe, quantifiable threat to modern multimedia forensics by wiping low-level GAN high-frequency fingerprints.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it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Naive Failures:</a:t>
              </a:r>
              <a:r>
                <a:rPr b="0" lang="it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Post-processing solutions at test-time (e.g. Sharpening) fail entirely since they cannot hallucinate destroyed statistics.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it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Robust Recovery:</a:t>
              </a:r>
              <a:r>
                <a:rPr b="0" lang="it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Retraining models via balanced augmentation (Fine-Tuning) and output-level probability mapping recovers a major portion of the forensic gap.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4" name="Google Shape;244;p24"/>
          <p:cNvGrpSpPr/>
          <p:nvPr/>
        </p:nvGrpSpPr>
        <p:grpSpPr>
          <a:xfrm>
            <a:off x="4667250" y="1190625"/>
            <a:ext cx="3981600" cy="3048000"/>
            <a:chOff x="4667250" y="1190625"/>
            <a:chExt cx="3981600" cy="3048000"/>
          </a:xfrm>
        </p:grpSpPr>
        <p:sp>
          <p:nvSpPr>
            <p:cNvPr id="245" name="Google Shape;245;p24"/>
            <p:cNvSpPr/>
            <p:nvPr/>
          </p:nvSpPr>
          <p:spPr>
            <a:xfrm>
              <a:off x="4667250" y="1190625"/>
              <a:ext cx="3981600" cy="3048000"/>
            </a:xfrm>
            <a:prstGeom prst="roundRect">
              <a:avLst>
                <a:gd fmla="val 25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4"/>
            <p:cNvSpPr txBox="1"/>
            <p:nvPr/>
          </p:nvSpPr>
          <p:spPr>
            <a:xfrm>
              <a:off x="4667250" y="1190625"/>
              <a:ext cx="39816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400">
                  <a:solidFill>
                    <a:srgbClr val="82002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Future Work</a:t>
              </a:r>
              <a:endParaRPr b="1" sz="1400">
                <a:solidFill>
                  <a:srgbClr val="82002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it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Limitations &amp; Next Steps:</a:t>
              </a:r>
              <a:r>
                <a:rPr b="0" lang="it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Current evaluations are restricted to In-Distribution scenarios where ProGAN is used for both training and testing.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it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Cross-Generator Datasets:</a:t>
              </a:r>
              <a:r>
                <a:rPr b="0" lang="it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Future iterations require validation against completely disjoint cross-generator datasets to confirm generalization.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it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DANN Deployment:</a:t>
              </a:r>
              <a:r>
                <a:rPr b="0" lang="it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Implement Domain-Adversarial Neural Networks (DANN) to achieve complete, compression-invariant detection.</a:t>
              </a:r>
              <a:endParaRPr b="0" sz="10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7" name="Google Shape;247;p24"/>
          <p:cNvGrpSpPr/>
          <p:nvPr/>
        </p:nvGrpSpPr>
        <p:grpSpPr>
          <a:xfrm>
            <a:off x="7791450" y="4524375"/>
            <a:ext cx="952500" cy="285900"/>
            <a:chOff x="7791450" y="4524375"/>
            <a:chExt cx="952500" cy="285900"/>
          </a:xfrm>
        </p:grpSpPr>
        <p:sp>
          <p:nvSpPr>
            <p:cNvPr id="248" name="Google Shape;248;p24"/>
            <p:cNvSpPr/>
            <p:nvPr/>
          </p:nvSpPr>
          <p:spPr>
            <a:xfrm>
              <a:off x="7791450" y="4524375"/>
              <a:ext cx="9525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4"/>
            <p:cNvSpPr txBox="1"/>
            <p:nvPr/>
          </p:nvSpPr>
          <p:spPr>
            <a:xfrm>
              <a:off x="7791450" y="4524375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100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1</a:t>
              </a:r>
              <a:r>
                <a:rPr lang="it" sz="100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2</a:t>
              </a:r>
              <a:r>
                <a:rPr b="0" lang="it" sz="100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/ 1</a:t>
              </a:r>
              <a:r>
                <a:rPr lang="it" sz="100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3</a:t>
              </a:r>
              <a:endParaRPr b="0" sz="1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oogle Shape;254;p25"/>
          <p:cNvGrpSpPr/>
          <p:nvPr/>
        </p:nvGrpSpPr>
        <p:grpSpPr>
          <a:xfrm>
            <a:off x="400050" y="333375"/>
            <a:ext cx="7620000" cy="619200"/>
            <a:chOff x="400050" y="333375"/>
            <a:chExt cx="7620000" cy="619200"/>
          </a:xfrm>
        </p:grpSpPr>
        <p:sp>
          <p:nvSpPr>
            <p:cNvPr id="255" name="Google Shape;255;p25"/>
            <p:cNvSpPr/>
            <p:nvPr/>
          </p:nvSpPr>
          <p:spPr>
            <a:xfrm>
              <a:off x="400050" y="333375"/>
              <a:ext cx="7620000" cy="61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5"/>
            <p:cNvSpPr txBox="1"/>
            <p:nvPr/>
          </p:nvSpPr>
          <p:spPr>
            <a:xfrm>
              <a:off x="400050" y="333375"/>
              <a:ext cx="7620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3200">
                  <a:solidFill>
                    <a:srgbClr val="0F172A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References</a:t>
              </a:r>
              <a:endParaRPr b="0" sz="3200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</p:grpSp>
      <p:grpSp>
        <p:nvGrpSpPr>
          <p:cNvPr id="257" name="Google Shape;257;p25"/>
          <p:cNvGrpSpPr/>
          <p:nvPr/>
        </p:nvGrpSpPr>
        <p:grpSpPr>
          <a:xfrm>
            <a:off x="400050" y="1333500"/>
            <a:ext cx="8343900" cy="723975"/>
            <a:chOff x="400050" y="1333500"/>
            <a:chExt cx="8343900" cy="723975"/>
          </a:xfrm>
        </p:grpSpPr>
        <p:sp>
          <p:nvSpPr>
            <p:cNvPr id="258" name="Google Shape;258;p25"/>
            <p:cNvSpPr txBox="1"/>
            <p:nvPr/>
          </p:nvSpPr>
          <p:spPr>
            <a:xfrm>
              <a:off x="400050" y="1333500"/>
              <a:ext cx="8343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1100">
                  <a:solidFill>
                    <a:srgbClr val="820024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[1]</a:t>
              </a:r>
              <a:r>
                <a:rPr b="0" lang="it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E. D. Cannas, P. Bestagini, S. Tubaro, et al., "Is JPEG AI Going to Change Image Forensics?", IEEE/CVF International Conference on Computer Vision Workshops (ICCVW), 2025.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9" name="Google Shape;259;p25"/>
            <p:cNvSpPr/>
            <p:nvPr/>
          </p:nvSpPr>
          <p:spPr>
            <a:xfrm>
              <a:off x="400050" y="2047875"/>
              <a:ext cx="83439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0" name="Google Shape;260;p25"/>
          <p:cNvGrpSpPr/>
          <p:nvPr/>
        </p:nvGrpSpPr>
        <p:grpSpPr>
          <a:xfrm>
            <a:off x="400050" y="2286000"/>
            <a:ext cx="8343900" cy="723975"/>
            <a:chOff x="400050" y="2286000"/>
            <a:chExt cx="8343900" cy="723975"/>
          </a:xfrm>
        </p:grpSpPr>
        <p:sp>
          <p:nvSpPr>
            <p:cNvPr id="261" name="Google Shape;261;p25"/>
            <p:cNvSpPr txBox="1"/>
            <p:nvPr/>
          </p:nvSpPr>
          <p:spPr>
            <a:xfrm>
              <a:off x="400050" y="2286000"/>
              <a:ext cx="8343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1100">
                  <a:solidFill>
                    <a:srgbClr val="820024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[2]</a:t>
              </a:r>
              <a:r>
                <a:rPr b="0" lang="it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P. Wang, O. Wang, R. Zhang, A. Owens, A. A. Efros, "CNN-generated images are surprisingly easy to spot... for now", IEEE/CVF Conference on Computer Vision and Pattern Recognition (CVPR), 2020.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2" name="Google Shape;262;p25"/>
            <p:cNvSpPr/>
            <p:nvPr/>
          </p:nvSpPr>
          <p:spPr>
            <a:xfrm>
              <a:off x="400050" y="3000375"/>
              <a:ext cx="83439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3" name="Google Shape;263;p25"/>
          <p:cNvGrpSpPr/>
          <p:nvPr/>
        </p:nvGrpSpPr>
        <p:grpSpPr>
          <a:xfrm>
            <a:off x="400050" y="3238500"/>
            <a:ext cx="8343900" cy="723975"/>
            <a:chOff x="400050" y="3238500"/>
            <a:chExt cx="8343900" cy="723975"/>
          </a:xfrm>
        </p:grpSpPr>
        <p:sp>
          <p:nvSpPr>
            <p:cNvPr id="264" name="Google Shape;264;p25"/>
            <p:cNvSpPr txBox="1"/>
            <p:nvPr/>
          </p:nvSpPr>
          <p:spPr>
            <a:xfrm>
              <a:off x="400050" y="3238500"/>
              <a:ext cx="8343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1100">
                  <a:solidFill>
                    <a:srgbClr val="820024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[3]</a:t>
              </a:r>
              <a:r>
                <a:rPr b="0" lang="it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JPEG AI Reference Software Official Codebase, ISO/IEC JTC 1/SC 29/WG 1.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5" name="Google Shape;265;p25"/>
            <p:cNvSpPr/>
            <p:nvPr/>
          </p:nvSpPr>
          <p:spPr>
            <a:xfrm>
              <a:off x="400050" y="3952875"/>
              <a:ext cx="83439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6" name="Google Shape;266;p25"/>
          <p:cNvGrpSpPr/>
          <p:nvPr/>
        </p:nvGrpSpPr>
        <p:grpSpPr>
          <a:xfrm>
            <a:off x="7791450" y="4524375"/>
            <a:ext cx="952500" cy="285900"/>
            <a:chOff x="7791450" y="4524375"/>
            <a:chExt cx="952500" cy="285900"/>
          </a:xfrm>
        </p:grpSpPr>
        <p:sp>
          <p:nvSpPr>
            <p:cNvPr id="267" name="Google Shape;267;p25"/>
            <p:cNvSpPr/>
            <p:nvPr/>
          </p:nvSpPr>
          <p:spPr>
            <a:xfrm>
              <a:off x="7791450" y="4524375"/>
              <a:ext cx="9525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5"/>
            <p:cNvSpPr txBox="1"/>
            <p:nvPr/>
          </p:nvSpPr>
          <p:spPr>
            <a:xfrm>
              <a:off x="7791450" y="4524375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100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1</a:t>
              </a:r>
              <a:r>
                <a:rPr lang="it" sz="100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3</a:t>
              </a:r>
              <a:r>
                <a:rPr b="0" lang="it" sz="100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/ 1</a:t>
              </a:r>
              <a:r>
                <a:rPr lang="it" sz="100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3</a:t>
              </a:r>
              <a:endParaRPr b="0" sz="1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